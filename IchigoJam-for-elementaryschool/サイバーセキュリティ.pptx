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Shape 2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1pPr>
    <a:lvl2pPr indent="228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2pPr>
    <a:lvl3pPr indent="457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3pPr>
    <a:lvl4pPr indent="685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4pPr>
    <a:lvl5pPr indent="9144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と日付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12" name="プレゼンテーションのタイトル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13" name="本文レベル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アボカドとライム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プレゼンテーションのタイトル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23" name="作者と日付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24" name="本文レベル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サーモンケーキ、サラダ、フムスが入ったボウル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スライドのタイトル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スライドのタイトル</a:t>
            </a:r>
          </a:p>
        </p:txBody>
      </p:sp>
      <p:sp>
        <p:nvSpPr>
          <p:cNvPr id="34" name="本文レベル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スライドのタイトル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43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44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61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パセリバター、煎りヘーゼルナッツ、削ったパルメザンチーズがかかったパッパルデッレパスタ1皿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6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セクションタイトル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r>
              <a:t>セクションタイトル</a:t>
            </a:r>
          </a:p>
        </p:txBody>
      </p:sp>
      <p:sp>
        <p:nvSpPr>
          <p:cNvPr id="72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8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8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議題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議題のタイトル</a:t>
            </a:r>
          </a:p>
        </p:txBody>
      </p:sp>
      <p:sp>
        <p:nvSpPr>
          <p:cNvPr id="89" name="議題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議題のサブタイトル</a:t>
            </a:r>
          </a:p>
        </p:txBody>
      </p:sp>
      <p:sp>
        <p:nvSpPr>
          <p:cNvPr id="90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議題のトピック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本文レベル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5pPr>
          </a:lstStyle>
          <a:p>
            <a:pPr/>
            <a:r>
              <a:t>ステートメント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本文レベル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ファクト情報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ファクト情報</a:t>
            </a:r>
          </a:p>
        </p:txBody>
      </p:sp>
      <p:sp>
        <p:nvSpPr>
          <p:cNvPr id="10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属性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属性</a:t>
            </a:r>
          </a:p>
        </p:txBody>
      </p:sp>
      <p:sp>
        <p:nvSpPr>
          <p:cNvPr id="116" name="本文レベル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/>
            </a:lvl1pPr>
            <a:lvl2pPr marL="638923" indent="-12700">
              <a:spcBef>
                <a:spcPts val="0"/>
              </a:spcBef>
              <a:buSzTx/>
              <a:buNone/>
              <a:defRPr spc="-170" sz="8500"/>
            </a:lvl2pPr>
            <a:lvl3pPr marL="638923" indent="444500">
              <a:spcBef>
                <a:spcPts val="0"/>
              </a:spcBef>
              <a:buSzTx/>
              <a:buNone/>
              <a:defRPr spc="-170" sz="8500"/>
            </a:lvl3pPr>
            <a:lvl4pPr marL="638923" indent="901700">
              <a:spcBef>
                <a:spcPts val="0"/>
              </a:spcBef>
              <a:buSzTx/>
              <a:buNone/>
              <a:defRPr spc="-170" sz="8500"/>
            </a:lvl4pPr>
            <a:lvl5pPr marL="638923" indent="1358900">
              <a:spcBef>
                <a:spcPts val="0"/>
              </a:spcBef>
              <a:buSzTx/>
              <a:buNone/>
              <a:defRPr spc="-170" sz="8500"/>
            </a:lvl5pPr>
          </a:lstStyle>
          <a:p>
            <a:pPr/>
            <a:r>
              <a:t>“重要な引用”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炒飯、ゆで卵、箸が添えられたボウル1杯のサラダ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サーモンケーキ、サラダ、フムスが入ったボウル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パセリバター、煎りヘーゼルナッツ、削ったパルメザンチーズがかかったパッパルデッレパスタ1皿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炒飯、ゆで卵、箸が添えられたボウル1杯のサラダ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タイトルテキスト"/>
          <p:cNvSpPr txBox="1"/>
          <p:nvPr>
            <p:ph type="title"/>
          </p:nvPr>
        </p:nvSpPr>
        <p:spPr>
          <a:xfrm>
            <a:off x="6338589" y="2183308"/>
            <a:ext cx="11706822" cy="2277071"/>
          </a:xfrm>
          <a:prstGeom prst="rect">
            <a:avLst/>
          </a:prstGeom>
        </p:spPr>
        <p:txBody>
          <a:bodyPr lIns="53578" tIns="53578" rIns="53578" bIns="53578" anchor="ctr"/>
          <a:lstStyle>
            <a:lvl1pPr algn="ctr" defTabSz="821531">
              <a:lnSpc>
                <a:spcPct val="100000"/>
              </a:lnSpc>
              <a:defRPr spc="0" sz="10800">
                <a:solidFill>
                  <a:srgbClr val="044C49"/>
                </a:solidFill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50" name="本文レベル1…"/>
          <p:cNvSpPr txBox="1"/>
          <p:nvPr>
            <p:ph type="body" sz="half" idx="1"/>
          </p:nvPr>
        </p:nvSpPr>
        <p:spPr>
          <a:xfrm>
            <a:off x="6338589" y="4460378"/>
            <a:ext cx="11706822" cy="6630295"/>
          </a:xfrm>
          <a:prstGeom prst="rect">
            <a:avLst/>
          </a:prstGeom>
        </p:spPr>
        <p:txBody>
          <a:bodyPr lIns="53578" tIns="53578" rIns="53578" bIns="53578" anchor="ctr"/>
          <a:lstStyle>
            <a:lvl1pPr marL="567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  <a:lvl2pPr marL="10124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+mn-lt"/>
                <a:ea typeface="+mn-ea"/>
                <a:cs typeface="+mn-cs"/>
                <a:sym typeface="ヒラギノ角ゴ ProN W6"/>
              </a:defRPr>
            </a:lvl2pPr>
            <a:lvl3pPr marL="1456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+mn-lt"/>
                <a:ea typeface="+mn-ea"/>
                <a:cs typeface="+mn-cs"/>
                <a:sym typeface="ヒラギノ角ゴ ProN W6"/>
              </a:defRPr>
            </a:lvl3pPr>
            <a:lvl4pPr marL="19014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+mn-lt"/>
                <a:ea typeface="+mn-ea"/>
                <a:cs typeface="+mn-cs"/>
                <a:sym typeface="ヒラギノ角ゴ ProN W6"/>
              </a:defRPr>
            </a:lvl4pPr>
            <a:lvl5pPr marL="2345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51" name="四角形"/>
          <p:cNvSpPr/>
          <p:nvPr/>
        </p:nvSpPr>
        <p:spPr>
          <a:xfrm>
            <a:off x="-38035" y="13461711"/>
            <a:ext cx="24460069" cy="346969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53578" tIns="53578" rIns="53578" bIns="53578" anchor="ctr"/>
          <a:lstStyle/>
          <a:p>
            <a:pPr defTabSz="821531"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</a:p>
        </p:txBody>
      </p:sp>
      <p:sp>
        <p:nvSpPr>
          <p:cNvPr id="152" name="四角形"/>
          <p:cNvSpPr/>
          <p:nvPr/>
        </p:nvSpPr>
        <p:spPr>
          <a:xfrm>
            <a:off x="-25762" y="-25401"/>
            <a:ext cx="24529085" cy="346969"/>
          </a:xfrm>
          <a:prstGeom prst="rect">
            <a:avLst/>
          </a:prstGeom>
          <a:blipFill>
            <a:blip r:embed="rId3"/>
          </a:blipFill>
          <a:ln w="12700">
            <a:miter lim="400000"/>
          </a:ln>
        </p:spPr>
        <p:txBody>
          <a:bodyPr lIns="53578" tIns="53578" rIns="53578" bIns="53578" anchor="ctr"/>
          <a:lstStyle/>
          <a:p>
            <a:pPr defTabSz="821531"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</a:p>
        </p:txBody>
      </p:sp>
      <p:sp>
        <p:nvSpPr>
          <p:cNvPr id="153" name="スライド番号"/>
          <p:cNvSpPr txBox="1"/>
          <p:nvPr>
            <p:ph type="sldNum" sz="quarter" idx="2"/>
          </p:nvPr>
        </p:nvSpPr>
        <p:spPr>
          <a:xfrm>
            <a:off x="3051290" y="298894"/>
            <a:ext cx="515284" cy="538957"/>
          </a:xfrm>
          <a:prstGeom prst="rect">
            <a:avLst/>
          </a:prstGeom>
        </p:spPr>
        <p:txBody>
          <a:bodyPr lIns="53578" tIns="53578" rIns="53578" bIns="53578" anchor="t"/>
          <a:lstStyle>
            <a:lvl1pPr defTabSz="821531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タイトルテキスト"/>
          <p:cNvSpPr txBox="1"/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pc="0" sz="112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61" name="本文レベル1…"/>
          <p:cNvSpPr txBox="1"/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7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/>
            </a:lvl1pPr>
            <a:lvl2pPr marL="10618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/>
            </a:lvl2pPr>
            <a:lvl3pPr marL="1506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/>
            </a:lvl3pPr>
            <a:lvl4pPr marL="19508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/>
            </a:lvl4pPr>
            <a:lvl5pPr marL="2395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62" name="スライド番号"/>
          <p:cNvSpPr txBox="1"/>
          <p:nvPr>
            <p:ph type="sldNum" sz="quarter" idx="2"/>
          </p:nvPr>
        </p:nvSpPr>
        <p:spPr>
          <a:xfrm>
            <a:off x="3095565" y="75140"/>
            <a:ext cx="556083" cy="447675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 &amp; 箇条書き コピー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タイトルテキスト"/>
          <p:cNvSpPr txBox="1"/>
          <p:nvPr>
            <p:ph type="title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algn="ctr" defTabSz="821531">
              <a:lnSpc>
                <a:spcPct val="100000"/>
              </a:lnSpc>
              <a:defRPr spc="0" sz="11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70" name="本文レベル1…"/>
          <p:cNvSpPr txBox="1"/>
          <p:nvPr>
            <p:ph type="body" sz="half" idx="1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marL="1106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  <a:lvl2pPr marL="15512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2pPr>
            <a:lvl3pPr marL="1995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3pPr>
            <a:lvl4pPr marL="24402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4pPr>
            <a:lvl5pPr marL="2884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71" name="スライド番号"/>
          <p:cNvSpPr txBox="1"/>
          <p:nvPr>
            <p:ph type="sldNum" sz="quarter" idx="2"/>
          </p:nvPr>
        </p:nvSpPr>
        <p:spPr>
          <a:xfrm>
            <a:off x="11905029" y="13073062"/>
            <a:ext cx="556083" cy="447676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4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タイトルテキスト"/>
          <p:cNvSpPr txBox="1"/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pc="0" sz="112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79" name="本文レベル1…"/>
          <p:cNvSpPr txBox="1"/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7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  <a:lvl2pPr marL="10618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2pPr>
            <a:lvl3pPr marL="1506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3pPr>
            <a:lvl4pPr marL="19508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4pPr>
            <a:lvl5pPr marL="2395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80" name="スライド番号"/>
          <p:cNvSpPr txBox="1"/>
          <p:nvPr>
            <p:ph type="sldNum" sz="quarter" idx="2"/>
          </p:nvPr>
        </p:nvSpPr>
        <p:spPr>
          <a:xfrm>
            <a:off x="3140170" y="97442"/>
            <a:ext cx="556083" cy="447676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 &amp; 箇条書き コピー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タイトルテキスト"/>
          <p:cNvSpPr txBox="1"/>
          <p:nvPr>
            <p:ph type="title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algn="ctr" defTabSz="821531">
              <a:lnSpc>
                <a:spcPct val="100000"/>
              </a:lnSpc>
              <a:defRPr spc="0" sz="11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88" name="本文レベル1…"/>
          <p:cNvSpPr txBox="1"/>
          <p:nvPr>
            <p:ph type="body" sz="half" idx="1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marL="1106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  <a:lvl2pPr marL="15512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2pPr>
            <a:lvl3pPr marL="1995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3pPr>
            <a:lvl4pPr marL="24402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4pPr>
            <a:lvl5pPr marL="2884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89" name="スライド番号"/>
          <p:cNvSpPr txBox="1"/>
          <p:nvPr>
            <p:ph type="sldNum" sz="quarter" idx="2"/>
          </p:nvPr>
        </p:nvSpPr>
        <p:spPr>
          <a:xfrm>
            <a:off x="3117868" y="93042"/>
            <a:ext cx="556083" cy="447676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4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タイトルテキスト"/>
          <p:cNvSpPr txBox="1"/>
          <p:nvPr>
            <p:ph type="title"/>
          </p:nvPr>
        </p:nvSpPr>
        <p:spPr>
          <a:xfrm>
            <a:off x="6338589" y="2183308"/>
            <a:ext cx="11706822" cy="2277071"/>
          </a:xfrm>
          <a:prstGeom prst="rect">
            <a:avLst/>
          </a:prstGeom>
        </p:spPr>
        <p:txBody>
          <a:bodyPr lIns="53578" tIns="53578" rIns="53578" bIns="53578" anchor="ctr"/>
          <a:lstStyle>
            <a:lvl1pPr algn="ctr" defTabSz="821531">
              <a:lnSpc>
                <a:spcPct val="100000"/>
              </a:lnSpc>
              <a:defRPr spc="0" sz="108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97" name="本文レベル1…"/>
          <p:cNvSpPr txBox="1"/>
          <p:nvPr>
            <p:ph type="body" sz="half" idx="1"/>
          </p:nvPr>
        </p:nvSpPr>
        <p:spPr>
          <a:xfrm>
            <a:off x="6338589" y="4460378"/>
            <a:ext cx="11706822" cy="6630295"/>
          </a:xfrm>
          <a:prstGeom prst="rect">
            <a:avLst/>
          </a:prstGeom>
        </p:spPr>
        <p:txBody>
          <a:bodyPr lIns="53578" tIns="53578" rIns="53578" bIns="53578" anchor="ctr"/>
          <a:lstStyle>
            <a:lvl1pPr marL="567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10124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2pPr>
            <a:lvl3pPr marL="1456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3pPr>
            <a:lvl4pPr marL="19014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4pPr>
            <a:lvl5pPr marL="2345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98" name="四角形"/>
          <p:cNvSpPr/>
          <p:nvPr/>
        </p:nvSpPr>
        <p:spPr>
          <a:xfrm>
            <a:off x="-38035" y="13461711"/>
            <a:ext cx="24460069" cy="346969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53578" tIns="53578" rIns="53578" bIns="53578" anchor="ctr"/>
          <a:lstStyle/>
          <a:p>
            <a:pPr defTabSz="821531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9" name="四角形"/>
          <p:cNvSpPr/>
          <p:nvPr/>
        </p:nvSpPr>
        <p:spPr>
          <a:xfrm>
            <a:off x="-25762" y="-25401"/>
            <a:ext cx="24529085" cy="346969"/>
          </a:xfrm>
          <a:prstGeom prst="rect">
            <a:avLst/>
          </a:prstGeom>
          <a:blipFill>
            <a:blip r:embed="rId3"/>
          </a:blipFill>
          <a:ln w="12700">
            <a:miter lim="400000"/>
          </a:ln>
        </p:spPr>
        <p:txBody>
          <a:bodyPr lIns="53578" tIns="53578" rIns="53578" bIns="53578" anchor="ctr"/>
          <a:lstStyle/>
          <a:p>
            <a:pPr defTabSz="821531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0" name="スライド番号"/>
          <p:cNvSpPr txBox="1"/>
          <p:nvPr>
            <p:ph type="sldNum" sz="quarter" idx="2"/>
          </p:nvPr>
        </p:nvSpPr>
        <p:spPr>
          <a:xfrm>
            <a:off x="3051290" y="298894"/>
            <a:ext cx="515284" cy="538957"/>
          </a:xfrm>
          <a:prstGeom prst="rect">
            <a:avLst/>
          </a:prstGeom>
        </p:spPr>
        <p:txBody>
          <a:bodyPr lIns="53578" tIns="53578" rIns="53578" bIns="53578" anchor="t"/>
          <a:lstStyle>
            <a:lvl1pPr defTabSz="821531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スライドのタイトル</a:t>
            </a:r>
          </a:p>
        </p:txBody>
      </p:sp>
      <p:sp>
        <p:nvSpPr>
          <p:cNvPr id="3" name="本文レベル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11978411" y="13125399"/>
            <a:ext cx="414681" cy="330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5.png"/><Relationship Id="rId4" Type="http://schemas.openxmlformats.org/officeDocument/2006/relationships/image" Target="../media/image2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tif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png"/><Relationship Id="rId3" Type="http://schemas.openxmlformats.org/officeDocument/2006/relationships/image" Target="../media/image4.tif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tif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3.png"/><Relationship Id="rId3" Type="http://schemas.openxmlformats.org/officeDocument/2006/relationships/image" Target="../media/image3.tif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tif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tif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tif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8.png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2.png"/><Relationship Id="rId3" Type="http://schemas.openxmlformats.org/officeDocument/2006/relationships/image" Target="../media/image17.png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9.png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9.png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png"/><Relationship Id="rId3" Type="http://schemas.openxmlformats.org/officeDocument/2006/relationships/image" Target="../media/image4.tif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tif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7.tif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.png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1.png"/></Relationships>
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2.png"/></Relationships>
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4.png"/></Relationships>
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小学5年生 ITブートキャンプ サイバーセキュリティ編…"/>
          <p:cNvSpPr txBox="1"/>
          <p:nvPr>
            <p:ph type="ctrTitle"/>
          </p:nvPr>
        </p:nvSpPr>
        <p:spPr>
          <a:xfrm>
            <a:off x="1206498" y="791543"/>
            <a:ext cx="21971004" cy="7693895"/>
          </a:xfrm>
          <a:prstGeom prst="rect">
            <a:avLst/>
          </a:prstGeom>
        </p:spPr>
        <p:txBody>
          <a:bodyPr anchor="ctr"/>
          <a:lstStyle/>
          <a:p>
            <a:pPr algn="ctr">
              <a:defRPr spc="-100" sz="5000"/>
            </a:pPr>
            <a:r>
              <a:t>小学5年生 ITブートキャンプ サイバーセキュリティ編</a:t>
            </a:r>
          </a:p>
          <a:p>
            <a:pPr algn="ctr">
              <a:defRPr spc="-100" sz="5000"/>
            </a:pPr>
          </a:p>
          <a:p>
            <a:pPr algn="ctr">
              <a:defRPr spc="-300" sz="15000"/>
            </a:pPr>
            <a:r>
              <a:t>サイバー安全教室</a:t>
            </a:r>
          </a:p>
        </p:txBody>
      </p:sp>
      <p:pic>
        <p:nvPicPr>
          <p:cNvPr id="210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72948" y="8059859"/>
            <a:ext cx="3347110" cy="4938566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株式会社 jig.jp 取締役 創業者…"/>
          <p:cNvSpPr txBox="1"/>
          <p:nvPr/>
        </p:nvSpPr>
        <p:spPr>
          <a:xfrm>
            <a:off x="7017300" y="9752615"/>
            <a:ext cx="10349400" cy="241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defTabSz="584200">
              <a:defRPr sz="4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株式会社 jig.jp 取締役 創業者</a:t>
            </a:r>
          </a:p>
          <a:p>
            <a:pPr defTabSz="584200">
              <a:defRPr sz="4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神山まるごと高専 技術教育統括ディレクター</a:t>
            </a:r>
          </a:p>
          <a:p>
            <a:pPr defTabSz="584200">
              <a:defRPr sz="4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福野泰介 @taisukef</a:t>
            </a:r>
          </a:p>
        </p:txBody>
      </p:sp>
      <p:pic>
        <p:nvPicPr>
          <p:cNvPr id="212" name="droppedImage.tiff" descr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588613" y="12644047"/>
            <a:ext cx="1620772" cy="5709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pasted-image.tiff" descr="pasted-image.tif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6873" y="8558143"/>
            <a:ext cx="4645170" cy="48019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セキュリティ＝安全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セキュリティ＝安全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安全教室といえば？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安全教室といえば？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778" y="-58190"/>
            <a:ext cx="13832380" cy="13832380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交通安全教室…"/>
          <p:cNvSpPr txBox="1"/>
          <p:nvPr>
            <p:ph type="title"/>
          </p:nvPr>
        </p:nvSpPr>
        <p:spPr>
          <a:xfrm>
            <a:off x="13885140" y="1095706"/>
            <a:ext cx="10290237" cy="11524587"/>
          </a:xfrm>
          <a:prstGeom prst="rect">
            <a:avLst/>
          </a:prstGeom>
        </p:spPr>
        <p:txBody>
          <a:bodyPr anchor="ctr"/>
          <a:lstStyle/>
          <a:p>
            <a:pPr algn="ctr">
              <a:defRPr spc="-232" sz="11600"/>
            </a:pPr>
            <a:r>
              <a:t>交通安全教室</a:t>
            </a:r>
          </a:p>
          <a:p>
            <a:pPr algn="ctr">
              <a:defRPr spc="-232" sz="11600"/>
            </a:pPr>
            <a:r>
              <a:t>なぜ必要？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1年で…"/>
          <p:cNvSpPr txBox="1"/>
          <p:nvPr>
            <p:ph type="title"/>
          </p:nvPr>
        </p:nvSpPr>
        <p:spPr>
          <a:xfrm>
            <a:off x="13885140" y="1095706"/>
            <a:ext cx="10290237" cy="11524587"/>
          </a:xfrm>
          <a:prstGeom prst="rect">
            <a:avLst/>
          </a:prstGeom>
        </p:spPr>
        <p:txBody>
          <a:bodyPr anchor="ctr"/>
          <a:lstStyle/>
          <a:p>
            <a:pPr algn="ctr">
              <a:defRPr spc="-232" sz="11600"/>
            </a:pPr>
            <a:r>
              <a:t>1年で</a:t>
            </a:r>
          </a:p>
          <a:p>
            <a:pPr algn="ctr">
              <a:defRPr spc="-232" sz="11600"/>
            </a:pPr>
            <a:r>
              <a:t>日本で30万件</a:t>
            </a:r>
          </a:p>
          <a:p>
            <a:pPr algn="ctr">
              <a:defRPr spc="-232" sz="11600"/>
            </a:pPr>
            <a:r>
              <a:t>福井で1000件</a:t>
            </a:r>
          </a:p>
          <a:p>
            <a:pPr algn="ctr">
              <a:defRPr spc="-232" sz="11600"/>
            </a:pPr>
            <a:r>
              <a:t>交通事故</a:t>
            </a:r>
          </a:p>
        </p:txBody>
      </p:sp>
      <p:pic>
        <p:nvPicPr>
          <p:cNvPr id="223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4779" y="-58190"/>
            <a:ext cx="13832380" cy="138323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交通事故が危ないのはなぜ？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交通事故が危ないのはなぜ？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9694" y="358255"/>
            <a:ext cx="10930545" cy="109305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ペーストされたムービー.png" descr="ペーストされたムービ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93963" y="358255"/>
            <a:ext cx="10930545" cy="10930545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どっちがやばそう？"/>
          <p:cNvSpPr txBox="1"/>
          <p:nvPr/>
        </p:nvSpPr>
        <p:spPr>
          <a:xfrm>
            <a:off x="7014209" y="11910522"/>
            <a:ext cx="10355581" cy="124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どっちがやばそう？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交通事故が危ない理由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交通事故が危ない理由</a:t>
            </a:r>
          </a:p>
          <a:p>
            <a:pPr algn="ctr"/>
          </a:p>
          <a:p>
            <a:pPr algn="ctr"/>
            <a:r>
              <a:t>物理の基本法則</a:t>
            </a:r>
          </a:p>
          <a:p>
            <a:pPr algn="ctr"/>
            <a:r>
              <a:t>F=ma</a:t>
            </a:r>
          </a:p>
          <a:p>
            <a:pPr algn="ctr"/>
            <a:r>
              <a:t>（攻撃力＝質量 x 速度の変化）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攻撃力＝質量 x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速度の変化</a:t>
            </a:r>
          </a:p>
          <a:p>
            <a:pPr algn="ctr"/>
          </a:p>
          <a:p>
            <a:pPr algn="ctr"/>
            <a:r>
              <a:t>手をゆっくり叩いてみよう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攻撃力＝質量 x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速度の変化</a:t>
            </a:r>
          </a:p>
          <a:p>
            <a:pPr algn="ctr"/>
          </a:p>
          <a:p>
            <a:pPr algn="ctr"/>
            <a:r>
              <a:t>手をすばやく叩いてみよう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攻撃力＝質量 x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速度の変化</a:t>
            </a:r>
          </a:p>
          <a:p>
            <a:pPr algn="ctr"/>
          </a:p>
          <a:p>
            <a:pPr algn="ctr"/>
            <a:r>
              <a:t>やわらかいものを軽くたたく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攻撃力＝質量 x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速度の変化</a:t>
            </a:r>
          </a:p>
          <a:p>
            <a:pPr algn="ctr"/>
          </a:p>
          <a:p>
            <a:pPr algn="ctr"/>
            <a:r>
              <a:t>硬いものを軽くたたく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質量</a:t>
            </a:r>
            <a:r>
              <a:t> x 速度の変化</a:t>
            </a:r>
          </a:p>
          <a:p>
            <a:pPr algn="ctr"/>
          </a:p>
          <a:p>
            <a:pPr algn="ctr"/>
            <a:r>
              <a:t>軽いものでたたく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質量</a:t>
            </a:r>
            <a:r>
              <a:t> x 速度の変化</a:t>
            </a:r>
          </a:p>
          <a:p>
            <a:pPr algn="ctr"/>
          </a:p>
          <a:p>
            <a:pPr algn="ctr"/>
            <a:r>
              <a:t>重いものでたたく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危ないのでルールがある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危ないのでルールがある</a:t>
            </a:r>
          </a:p>
          <a:p>
            <a:pPr algn="ctr"/>
          </a:p>
          <a:p>
            <a:pPr algn="ctr"/>
            <a:r>
              <a:t>法則の理解と危ないを避ける力</a:t>
            </a:r>
          </a:p>
          <a:p>
            <a:pPr algn="ctr"/>
            <a:r>
              <a:t>大事！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事故の他、危ないこと？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事故の他、危ないこと？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窃盗（ぬすみ） 年38万件…"/>
          <p:cNvSpPr txBox="1"/>
          <p:nvPr>
            <p:ph type="ctrTitle"/>
          </p:nvPr>
        </p:nvSpPr>
        <p:spPr>
          <a:xfrm>
            <a:off x="1206498" y="415910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窃盗（ぬすみ） 年38万件</a:t>
            </a:r>
          </a:p>
          <a:p>
            <a:pPr algn="ctr"/>
            <a:r>
              <a:t>恐喝（おどし） 年1200件</a:t>
            </a:r>
          </a:p>
          <a:p>
            <a:pPr algn="ctr"/>
            <a:r>
              <a:t>器物損壊（はかい） 年7万件</a:t>
            </a:r>
          </a:p>
          <a:p>
            <a:pPr algn="ctr"/>
            <a:r>
              <a:t>詐欺（さぎ） 年1万7千件</a:t>
            </a:r>
          </a:p>
        </p:txBody>
      </p:sp>
      <p:sp>
        <p:nvSpPr>
          <p:cNvPr id="250" name="※ただし、サイバー犯罪は含まず"/>
          <p:cNvSpPr txBox="1"/>
          <p:nvPr/>
        </p:nvSpPr>
        <p:spPr>
          <a:xfrm>
            <a:off x="1206498" y="11537936"/>
            <a:ext cx="21971004" cy="1239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defTabSz="1853137">
              <a:lnSpc>
                <a:spcPct val="80000"/>
              </a:lnSpc>
              <a:defRPr spc="-176" sz="8816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※ただし、サイバー犯罪は含まず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" name="表1"/>
          <p:cNvGraphicFramePr/>
          <p:nvPr/>
        </p:nvGraphicFramePr>
        <p:xfrm>
          <a:off x="1212850" y="691803"/>
          <a:ext cx="22021800" cy="1091484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297295"/>
                <a:gridCol w="8858096"/>
                <a:gridCol w="8802908"/>
              </a:tblGrid>
              <a:tr h="1808557">
                <a:tc>
                  <a:txBody>
                    <a:bodyPr/>
                    <a:lstStyle/>
                    <a:p>
                      <a:pPr defTabSz="914400">
                        <a:defRPr sz="5000">
                          <a:latin typeface="+mn-lt"/>
                          <a:ea typeface="+mn-ea"/>
                          <a:cs typeface="+mn-cs"/>
                          <a:sym typeface="ヒラギノ角ゴ ProN W6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犯罪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サイバー犯罪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1808557"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事故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悪口、なりすまし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ネット上で悪口、なりすまし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1808557"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詐欺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口頭、電話、メール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メール、ウェブ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1808557"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恐喝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口頭、電話、メール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ランサムウェア（アプリ）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1808557"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窃盗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モノの盗難（著作権侵害）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データの盗難（著作権侵害）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1808557"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器物損壊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自転車を壊される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データを壊される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53" name="サイバー犯罪も犯罪の一種"/>
          <p:cNvSpPr txBox="1"/>
          <p:nvPr/>
        </p:nvSpPr>
        <p:spPr>
          <a:xfrm>
            <a:off x="6871969" y="12126191"/>
            <a:ext cx="10640061" cy="99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/>
            </a:lvl1pPr>
          </a:lstStyle>
          <a:p>
            <a:pPr/>
            <a:r>
              <a:t>サイバー犯罪も犯罪の一種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著作権＝つくった人の権利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著作権＝つくった人の権利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誰かが作ったデータは、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誰かが作ったデータは、</a:t>
            </a:r>
          </a:p>
          <a:p>
            <a:pPr algn="ctr"/>
            <a:r>
              <a:t>その人の権利があるので、</a:t>
            </a:r>
          </a:p>
          <a:p>
            <a:pPr algn="ctr"/>
            <a:r>
              <a:t>勝手に盗んだり、</a:t>
            </a:r>
          </a:p>
          <a:p>
            <a:pPr algn="ctr"/>
            <a:r>
              <a:t>壊したりしたらダメ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例外１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>
              <a:defRPr spc="-200" sz="10000"/>
            </a:pPr>
            <a:r>
              <a:t>例外１</a:t>
            </a:r>
          </a:p>
          <a:p>
            <a:pPr algn="ctr">
              <a:defRPr spc="-200" sz="10000"/>
            </a:pPr>
          </a:p>
          <a:p>
            <a:pPr algn="ctr">
              <a:defRPr spc="-200" sz="10000"/>
            </a:pPr>
            <a:r>
              <a:t>自分がつくるものの一部として</a:t>
            </a:r>
          </a:p>
          <a:p>
            <a:pPr algn="ctr">
              <a:defRPr spc="-200" sz="10000"/>
            </a:pP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引用</a:t>
            </a:r>
            <a:r>
              <a:t>する場合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例外２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>
              <a:defRPr spc="-200" sz="10000"/>
            </a:pPr>
            <a:r>
              <a:t>例外２</a:t>
            </a:r>
          </a:p>
          <a:p>
            <a:pPr algn="ctr">
              <a:defRPr spc="-200" sz="10000"/>
            </a:pPr>
          </a:p>
          <a:p>
            <a:pPr algn="ctr">
              <a:defRPr spc="-200" sz="10000"/>
            </a:pPr>
            <a:r>
              <a:t>つくった本人がいいよと言った場合</a:t>
            </a:r>
          </a:p>
          <a:p>
            <a:pPr algn="ctr">
              <a:defRPr spc="-200" sz="10000"/>
            </a:pP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オープンデータ</a:t>
            </a:r>
            <a:r>
              <a:t>もその一種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603" y="232640"/>
            <a:ext cx="18187843" cy="10844763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日本のステキ写真オープンデータ by FIND/47"/>
          <p:cNvSpPr txBox="1"/>
          <p:nvPr>
            <p:ph type="ctrTitle"/>
          </p:nvPr>
        </p:nvSpPr>
        <p:spPr>
          <a:xfrm>
            <a:off x="705455" y="11346628"/>
            <a:ext cx="17112139" cy="1621819"/>
          </a:xfrm>
          <a:prstGeom prst="rect">
            <a:avLst/>
          </a:prstGeom>
        </p:spPr>
        <p:txBody>
          <a:bodyPr anchor="ctr"/>
          <a:lstStyle>
            <a:lvl1pPr algn="ctr" defTabSz="1341086">
              <a:defRPr spc="-127" sz="6380"/>
            </a:lvl1pPr>
          </a:lstStyle>
          <a:p>
            <a:pPr/>
            <a:r>
              <a:t>日本のステキ写真オープンデータ by FIND/47</a:t>
            </a:r>
          </a:p>
        </p:txBody>
      </p:sp>
      <p:pic>
        <p:nvPicPr>
          <p:cNvPr id="265" name="ペーストされたムービー.png" descr="ペーストされたムービ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616121" y="7459518"/>
            <a:ext cx="5717714" cy="57177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サイバーって何？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サイバーって何？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サイバー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サイバー</a:t>
            </a:r>
          </a:p>
          <a:p>
            <a:pPr algn="ctr"/>
            <a:r>
              <a:t>＝</a:t>
            </a:r>
          </a:p>
          <a:p>
            <a:pPr algn="ctr"/>
            <a:r>
              <a:t>コンピュータや</a:t>
            </a:r>
          </a:p>
          <a:p>
            <a:pPr algn="ctr"/>
            <a:r>
              <a:t>ネットワークに関すること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コンピューター"/>
          <p:cNvSpPr txBox="1"/>
          <p:nvPr>
            <p:ph type="ctrTitle"/>
          </p:nvPr>
        </p:nvSpPr>
        <p:spPr>
          <a:xfrm>
            <a:off x="1206498" y="504579"/>
            <a:ext cx="21971004" cy="2980489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コンピューター</a:t>
            </a:r>
          </a:p>
        </p:txBody>
      </p:sp>
      <p:pic>
        <p:nvPicPr>
          <p:cNvPr id="272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27759" y="4138917"/>
            <a:ext cx="13208881" cy="80208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ネットワーク？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ネットワーク？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ネットワークとは…"/>
          <p:cNvSpPr txBox="1"/>
          <p:nvPr>
            <p:ph type="title"/>
          </p:nvPr>
        </p:nvSpPr>
        <p:spPr>
          <a:xfrm>
            <a:off x="3233988" y="870690"/>
            <a:ext cx="17916024" cy="6831119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ネットワークとは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コンピューターが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つながったもの</a:t>
            </a:r>
          </a:p>
        </p:txBody>
      </p:sp>
      <p:pic>
        <p:nvPicPr>
          <p:cNvPr id="277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36749" y="9841508"/>
            <a:ext cx="3747903" cy="3510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81781" y="9274969"/>
            <a:ext cx="3750470" cy="35004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775000" y="8620125"/>
            <a:ext cx="3750470" cy="3500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596781" y="7965281"/>
            <a:ext cx="3750470" cy="3500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インターネットは…"/>
          <p:cNvSpPr txBox="1"/>
          <p:nvPr>
            <p:ph type="title"/>
          </p:nvPr>
        </p:nvSpPr>
        <p:spPr>
          <a:xfrm>
            <a:off x="3233988" y="870690"/>
            <a:ext cx="17916024" cy="6831119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インターネットは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ネットワークが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たくさんつながったもの</a:t>
            </a:r>
          </a:p>
        </p:txBody>
      </p:sp>
      <p:sp>
        <p:nvSpPr>
          <p:cNvPr id="283" name="合計100おく台くらい"/>
          <p:cNvSpPr txBox="1"/>
          <p:nvPr/>
        </p:nvSpPr>
        <p:spPr>
          <a:xfrm>
            <a:off x="10025760" y="12306644"/>
            <a:ext cx="11588596" cy="13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21531">
              <a:defRPr sz="56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合計100おく台くらい</a:t>
            </a:r>
          </a:p>
        </p:txBody>
      </p:sp>
      <p:pic>
        <p:nvPicPr>
          <p:cNvPr id="284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85242" y="8783844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45735" y="7697478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4525724" y="9774201"/>
            <a:ext cx="6413516" cy="28043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632368" y="8431160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24749" y="10010214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-4237463" y="7274792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915084" y="11400840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885567" y="6434769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45886" y="9774201"/>
            <a:ext cx="6413517" cy="28043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3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20322878" y="11400840"/>
            <a:ext cx="6413517" cy="28043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いちばんちいさな…"/>
          <p:cNvSpPr txBox="1"/>
          <p:nvPr>
            <p:ph type="title"/>
          </p:nvPr>
        </p:nvSpPr>
        <p:spPr>
          <a:xfrm>
            <a:off x="3233849" y="3261659"/>
            <a:ext cx="17916303" cy="4149982"/>
          </a:xfrm>
          <a:prstGeom prst="rect">
            <a:avLst/>
          </a:prstGeom>
        </p:spPr>
        <p:txBody>
          <a:bodyPr/>
          <a:lstStyle/>
          <a:p>
            <a:pPr/>
            <a:r>
              <a:t>いちばんちいさな </a:t>
            </a:r>
          </a:p>
          <a:p>
            <a:pPr/>
            <a:r>
              <a:t>ネットをつくろう</a:t>
            </a:r>
          </a:p>
        </p:txBody>
      </p:sp>
      <p:pic>
        <p:nvPicPr>
          <p:cNvPr id="296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四角形"/>
          <p:cNvSpPr/>
          <p:nvPr/>
        </p:nvSpPr>
        <p:spPr>
          <a:xfrm>
            <a:off x="11749614" y="12072379"/>
            <a:ext cx="1196393" cy="322028"/>
          </a:xfrm>
          <a:prstGeom prst="rect">
            <a:avLst/>
          </a:prstGeom>
          <a:solidFill>
            <a:srgbClr val="A6AAA9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57" name="接続の線"/>
          <p:cNvSpPr/>
          <p:nvPr/>
        </p:nvSpPr>
        <p:spPr>
          <a:xfrm>
            <a:off x="15257332" y="8648931"/>
            <a:ext cx="2460598" cy="6217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9783" y="14373"/>
                  <a:pt x="16983" y="7173"/>
                  <a:pt x="21600" y="0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302" name="グループ"/>
          <p:cNvGrpSpPr/>
          <p:nvPr/>
        </p:nvGrpSpPr>
        <p:grpSpPr>
          <a:xfrm>
            <a:off x="17717349" y="6777243"/>
            <a:ext cx="1101143" cy="2125964"/>
            <a:chOff x="0" y="0"/>
            <a:chExt cx="1101142" cy="2125962"/>
          </a:xfrm>
        </p:grpSpPr>
        <p:sp>
          <p:nvSpPr>
            <p:cNvPr id="300" name="四角形"/>
            <p:cNvSpPr/>
            <p:nvPr/>
          </p:nvSpPr>
          <p:spPr>
            <a:xfrm>
              <a:off x="187983" y="0"/>
              <a:ext cx="725176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01" name="角丸四角形"/>
            <p:cNvSpPr/>
            <p:nvPr/>
          </p:nvSpPr>
          <p:spPr>
            <a:xfrm>
              <a:off x="0" y="646983"/>
              <a:ext cx="1101143" cy="1478980"/>
            </a:xfrm>
            <a:prstGeom prst="roundRect">
              <a:avLst>
                <a:gd name="adj" fmla="val 20147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grpSp>
        <p:nvGrpSpPr>
          <p:cNvPr id="305" name="グループ"/>
          <p:cNvGrpSpPr/>
          <p:nvPr/>
        </p:nvGrpSpPr>
        <p:grpSpPr>
          <a:xfrm>
            <a:off x="14156004" y="9084224"/>
            <a:ext cx="1101143" cy="570337"/>
            <a:chOff x="0" y="0"/>
            <a:chExt cx="1101142" cy="570336"/>
          </a:xfrm>
        </p:grpSpPr>
        <p:sp>
          <p:nvSpPr>
            <p:cNvPr id="303" name="四角形"/>
            <p:cNvSpPr/>
            <p:nvPr/>
          </p:nvSpPr>
          <p:spPr>
            <a:xfrm rot="16200000">
              <a:off x="38588" y="58777"/>
              <a:ext cx="375605" cy="452782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04" name="角丸四角形"/>
            <p:cNvSpPr/>
            <p:nvPr/>
          </p:nvSpPr>
          <p:spPr>
            <a:xfrm rot="16200000">
              <a:off x="432955" y="-97851"/>
              <a:ext cx="570337" cy="766038"/>
            </a:xfrm>
            <a:prstGeom prst="roundRect">
              <a:avLst>
                <a:gd name="adj" fmla="val 20147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grpSp>
        <p:nvGrpSpPr>
          <p:cNvPr id="308" name="グループ"/>
          <p:cNvGrpSpPr/>
          <p:nvPr/>
        </p:nvGrpSpPr>
        <p:grpSpPr>
          <a:xfrm>
            <a:off x="14082839" y="7814743"/>
            <a:ext cx="2125964" cy="1101143"/>
            <a:chOff x="0" y="0"/>
            <a:chExt cx="2125962" cy="1101142"/>
          </a:xfrm>
        </p:grpSpPr>
        <p:sp>
          <p:nvSpPr>
            <p:cNvPr id="306" name="四角形"/>
            <p:cNvSpPr/>
            <p:nvPr/>
          </p:nvSpPr>
          <p:spPr>
            <a:xfrm rot="16200000">
              <a:off x="74501" y="113481"/>
              <a:ext cx="725177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07" name="角丸四角形"/>
            <p:cNvSpPr/>
            <p:nvPr/>
          </p:nvSpPr>
          <p:spPr>
            <a:xfrm rot="16200000">
              <a:off x="835901" y="-188919"/>
              <a:ext cx="1101143" cy="1478980"/>
            </a:xfrm>
            <a:prstGeom prst="roundRect">
              <a:avLst>
                <a:gd name="adj" fmla="val 20147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sp>
        <p:nvSpPr>
          <p:cNvPr id="358" name="接続の線"/>
          <p:cNvSpPr/>
          <p:nvPr/>
        </p:nvSpPr>
        <p:spPr>
          <a:xfrm>
            <a:off x="14694874" y="6662811"/>
            <a:ext cx="779822" cy="11519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9806" y="16217"/>
                  <a:pt x="12606" y="9017"/>
                  <a:pt x="0" y="0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pic>
        <p:nvPicPr>
          <p:cNvPr id="310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8549"/>
          <a:stretch>
            <a:fillRect/>
          </a:stretch>
        </p:blipFill>
        <p:spPr>
          <a:xfrm>
            <a:off x="9340222" y="2890110"/>
            <a:ext cx="6822283" cy="3772794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テレビ"/>
          <p:cNvSpPr txBox="1"/>
          <p:nvPr>
            <p:ph type="title"/>
          </p:nvPr>
        </p:nvSpPr>
        <p:spPr>
          <a:xfrm>
            <a:off x="4203883" y="1916992"/>
            <a:ext cx="3938271" cy="971083"/>
          </a:xfrm>
          <a:prstGeom prst="rect">
            <a:avLst/>
          </a:prstGeom>
        </p:spPr>
        <p:txBody>
          <a:bodyPr/>
          <a:lstStyle>
            <a:lvl1pPr>
              <a:defRPr sz="5600"/>
            </a:lvl1pPr>
          </a:lstStyle>
          <a:p>
            <a:pPr/>
            <a:r>
              <a:t>テレビ</a:t>
            </a:r>
          </a:p>
        </p:txBody>
      </p:sp>
      <p:sp>
        <p:nvSpPr>
          <p:cNvPr id="312" name="キーボード"/>
          <p:cNvSpPr txBox="1"/>
          <p:nvPr/>
        </p:nvSpPr>
        <p:spPr>
          <a:xfrm>
            <a:off x="9732764" y="1743273"/>
            <a:ext cx="5605326" cy="1318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21531">
              <a:defRPr sz="56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キーボード</a:t>
            </a:r>
          </a:p>
        </p:txBody>
      </p:sp>
      <p:sp>
        <p:nvSpPr>
          <p:cNvPr id="313" name="IchigoJamをつないで、スイッチオン"/>
          <p:cNvSpPr txBox="1"/>
          <p:nvPr/>
        </p:nvSpPr>
        <p:spPr>
          <a:xfrm>
            <a:off x="4437497" y="-66842"/>
            <a:ext cx="15855590" cy="1597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05100">
              <a:defRPr sz="686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IchigoJamをつないで、スイッチオン</a:t>
            </a:r>
          </a:p>
        </p:txBody>
      </p:sp>
      <p:sp>
        <p:nvSpPr>
          <p:cNvPr id="314" name="線"/>
          <p:cNvSpPr/>
          <p:nvPr/>
        </p:nvSpPr>
        <p:spPr>
          <a:xfrm flipH="1">
            <a:off x="11689613" y="10989469"/>
            <a:ext cx="670461" cy="1"/>
          </a:xfrm>
          <a:prstGeom prst="line">
            <a:avLst/>
          </a:prstGeom>
          <a:ln w="101600">
            <a:solidFill>
              <a:srgbClr val="C82506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15" name="ON"/>
          <p:cNvSpPr txBox="1"/>
          <p:nvPr/>
        </p:nvSpPr>
        <p:spPr>
          <a:xfrm>
            <a:off x="12496893" y="10504151"/>
            <a:ext cx="1316221" cy="934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21531">
              <a:defRPr sz="42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359" name="接続の線"/>
          <p:cNvSpPr/>
          <p:nvPr/>
        </p:nvSpPr>
        <p:spPr>
          <a:xfrm>
            <a:off x="4458072" y="4083006"/>
            <a:ext cx="1426764" cy="4310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2579" y="18835"/>
                  <a:pt x="5379" y="11635"/>
                  <a:pt x="0" y="0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320" name="グループ"/>
          <p:cNvGrpSpPr/>
          <p:nvPr/>
        </p:nvGrpSpPr>
        <p:grpSpPr>
          <a:xfrm>
            <a:off x="5884835" y="7986928"/>
            <a:ext cx="2278956" cy="971084"/>
            <a:chOff x="0" y="0"/>
            <a:chExt cx="2278954" cy="971082"/>
          </a:xfrm>
        </p:grpSpPr>
        <p:sp>
          <p:nvSpPr>
            <p:cNvPr id="317" name="四角形"/>
            <p:cNvSpPr/>
            <p:nvPr/>
          </p:nvSpPr>
          <p:spPr>
            <a:xfrm rot="5400000">
              <a:off x="1779903" y="90358"/>
              <a:ext cx="227176" cy="770927"/>
            </a:xfrm>
            <a:prstGeom prst="rect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18" name="四角形"/>
            <p:cNvSpPr/>
            <p:nvPr/>
          </p:nvSpPr>
          <p:spPr>
            <a:xfrm rot="5400000">
              <a:off x="1169633" y="100077"/>
              <a:ext cx="639523" cy="770928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19" name="角丸四角形"/>
            <p:cNvSpPr/>
            <p:nvPr/>
          </p:nvSpPr>
          <p:spPr>
            <a:xfrm rot="5400000">
              <a:off x="166604" y="-166605"/>
              <a:ext cx="971084" cy="1304293"/>
            </a:xfrm>
            <a:prstGeom prst="roundRect">
              <a:avLst>
                <a:gd name="adj" fmla="val 20147"/>
              </a:avLst>
            </a:prstGeom>
            <a:solidFill>
              <a:srgbClr val="F5D328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grpSp>
        <p:nvGrpSpPr>
          <p:cNvPr id="325" name="グループ"/>
          <p:cNvGrpSpPr/>
          <p:nvPr/>
        </p:nvGrpSpPr>
        <p:grpSpPr>
          <a:xfrm>
            <a:off x="3742760" y="3131170"/>
            <a:ext cx="4536083" cy="3640963"/>
            <a:chOff x="0" y="0"/>
            <a:chExt cx="4536082" cy="3640962"/>
          </a:xfrm>
        </p:grpSpPr>
        <p:sp>
          <p:nvSpPr>
            <p:cNvPr id="321" name="四角形"/>
            <p:cNvSpPr/>
            <p:nvPr/>
          </p:nvSpPr>
          <p:spPr>
            <a:xfrm>
              <a:off x="1885022" y="2853655"/>
              <a:ext cx="766038" cy="570338"/>
            </a:xfrm>
            <a:prstGeom prst="rect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2" name="四角形"/>
            <p:cNvSpPr/>
            <p:nvPr/>
          </p:nvSpPr>
          <p:spPr>
            <a:xfrm>
              <a:off x="0" y="0"/>
              <a:ext cx="4536083" cy="3040789"/>
            </a:xfrm>
            <a:prstGeom prst="rect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3" name="四角形"/>
            <p:cNvSpPr/>
            <p:nvPr/>
          </p:nvSpPr>
          <p:spPr>
            <a:xfrm>
              <a:off x="292075" y="298353"/>
              <a:ext cx="3951932" cy="244408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4" name="四角形"/>
            <p:cNvSpPr/>
            <p:nvPr/>
          </p:nvSpPr>
          <p:spPr>
            <a:xfrm>
              <a:off x="1131093" y="3212337"/>
              <a:ext cx="2273896" cy="428626"/>
            </a:xfrm>
            <a:prstGeom prst="rect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330" name="グループ"/>
          <p:cNvGrpSpPr/>
          <p:nvPr/>
        </p:nvGrpSpPr>
        <p:grpSpPr>
          <a:xfrm>
            <a:off x="17498539" y="4162599"/>
            <a:ext cx="1538764" cy="2446934"/>
            <a:chOff x="0" y="0"/>
            <a:chExt cx="1538762" cy="2446933"/>
          </a:xfrm>
        </p:grpSpPr>
        <p:sp>
          <p:nvSpPr>
            <p:cNvPr id="326" name="四角形"/>
            <p:cNvSpPr/>
            <p:nvPr/>
          </p:nvSpPr>
          <p:spPr>
            <a:xfrm>
              <a:off x="887850" y="0"/>
              <a:ext cx="192558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27" name="四角形"/>
            <p:cNvSpPr/>
            <p:nvPr/>
          </p:nvSpPr>
          <p:spPr>
            <a:xfrm>
              <a:off x="458353" y="0"/>
              <a:ext cx="192558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28" name="角丸四角形"/>
            <p:cNvSpPr/>
            <p:nvPr/>
          </p:nvSpPr>
          <p:spPr>
            <a:xfrm>
              <a:off x="0" y="572075"/>
              <a:ext cx="1538763" cy="1874859"/>
            </a:xfrm>
            <a:prstGeom prst="roundRect">
              <a:avLst>
                <a:gd name="adj" fmla="val 25953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29" name="角丸四角形"/>
            <p:cNvSpPr/>
            <p:nvPr/>
          </p:nvSpPr>
          <p:spPr>
            <a:xfrm>
              <a:off x="218810" y="1861387"/>
              <a:ext cx="1101143" cy="418860"/>
            </a:xfrm>
            <a:prstGeom prst="roundRect">
              <a:avLst>
                <a:gd name="adj" fmla="val 39434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grpSp>
        <p:nvGrpSpPr>
          <p:cNvPr id="334" name="グループ"/>
          <p:cNvGrpSpPr/>
          <p:nvPr/>
        </p:nvGrpSpPr>
        <p:grpSpPr>
          <a:xfrm>
            <a:off x="19344219" y="4144739"/>
            <a:ext cx="1101143" cy="2125964"/>
            <a:chOff x="0" y="0"/>
            <a:chExt cx="1101142" cy="2125962"/>
          </a:xfrm>
        </p:grpSpPr>
        <p:sp>
          <p:nvSpPr>
            <p:cNvPr id="331" name="四角形"/>
            <p:cNvSpPr/>
            <p:nvPr/>
          </p:nvSpPr>
          <p:spPr>
            <a:xfrm>
              <a:off x="671058" y="0"/>
              <a:ext cx="192558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32" name="四角形"/>
            <p:cNvSpPr/>
            <p:nvPr/>
          </p:nvSpPr>
          <p:spPr>
            <a:xfrm>
              <a:off x="241561" y="0"/>
              <a:ext cx="192558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33" name="角丸四角形"/>
            <p:cNvSpPr/>
            <p:nvPr/>
          </p:nvSpPr>
          <p:spPr>
            <a:xfrm>
              <a:off x="0" y="646983"/>
              <a:ext cx="1101143" cy="1478980"/>
            </a:xfrm>
            <a:prstGeom prst="roundRect">
              <a:avLst>
                <a:gd name="adj" fmla="val 20147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sp>
        <p:nvSpPr>
          <p:cNvPr id="360" name="接続の線"/>
          <p:cNvSpPr/>
          <p:nvPr/>
        </p:nvSpPr>
        <p:spPr>
          <a:xfrm>
            <a:off x="4503818" y="6919945"/>
            <a:ext cx="6110790" cy="53861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12" fill="norm" stroke="1" extrusionOk="0">
                <a:moveTo>
                  <a:pt x="21600" y="21511"/>
                </a:moveTo>
                <a:cubicBezTo>
                  <a:pt x="10174" y="21600"/>
                  <a:pt x="2974" y="14430"/>
                  <a:pt x="0" y="0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36" name="角丸四角形"/>
          <p:cNvSpPr/>
          <p:nvPr/>
        </p:nvSpPr>
        <p:spPr>
          <a:xfrm rot="5400000">
            <a:off x="10213279" y="11297553"/>
            <a:ext cx="971084" cy="1862678"/>
          </a:xfrm>
          <a:prstGeom prst="roundRect">
            <a:avLst>
              <a:gd name="adj" fmla="val 20147"/>
            </a:avLst>
          </a:prstGeom>
          <a:solidFill>
            <a:srgbClr val="C82506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61" name="接続の線"/>
          <p:cNvSpPr/>
          <p:nvPr/>
        </p:nvSpPr>
        <p:spPr>
          <a:xfrm>
            <a:off x="14022882" y="6270799"/>
            <a:ext cx="5776682" cy="60262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75" fill="norm" stroke="1" extrusionOk="0">
                <a:moveTo>
                  <a:pt x="21600" y="0"/>
                </a:moveTo>
                <a:cubicBezTo>
                  <a:pt x="19737" y="14442"/>
                  <a:pt x="12537" y="21600"/>
                  <a:pt x="0" y="21474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38" name="角丸四角形"/>
          <p:cNvSpPr/>
          <p:nvPr/>
        </p:nvSpPr>
        <p:spPr>
          <a:xfrm rot="5400000">
            <a:off x="12758632" y="11342144"/>
            <a:ext cx="729282" cy="1799219"/>
          </a:xfrm>
          <a:prstGeom prst="roundRect">
            <a:avLst>
              <a:gd name="adj" fmla="val 25913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62" name="接続の線"/>
          <p:cNvSpPr/>
          <p:nvPr/>
        </p:nvSpPr>
        <p:spPr>
          <a:xfrm>
            <a:off x="4432380" y="6431645"/>
            <a:ext cx="1261475" cy="48995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1511" y="18753"/>
                  <a:pt x="4311" y="11553"/>
                  <a:pt x="0" y="0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40" name="四角形"/>
          <p:cNvSpPr/>
          <p:nvPr/>
        </p:nvSpPr>
        <p:spPr>
          <a:xfrm rot="8326879">
            <a:off x="6783851" y="12408693"/>
            <a:ext cx="227176" cy="77092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41" name="四角形"/>
          <p:cNvSpPr/>
          <p:nvPr/>
        </p:nvSpPr>
        <p:spPr>
          <a:xfrm rot="8326879">
            <a:off x="6304092" y="12111137"/>
            <a:ext cx="639524" cy="770928"/>
          </a:xfrm>
          <a:prstGeom prst="rect">
            <a:avLst/>
          </a:prstGeom>
          <a:solidFill>
            <a:srgbClr val="A6AAA9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42" name="角丸四角形"/>
          <p:cNvSpPr/>
          <p:nvPr/>
        </p:nvSpPr>
        <p:spPr>
          <a:xfrm rot="8326879">
            <a:off x="5586621" y="11214675"/>
            <a:ext cx="971083" cy="1304294"/>
          </a:xfrm>
          <a:prstGeom prst="roundRect">
            <a:avLst>
              <a:gd name="adj" fmla="val 20147"/>
            </a:avLst>
          </a:prstGeom>
          <a:solidFill>
            <a:srgbClr val="DCDEE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43" name="②"/>
          <p:cNvSpPr txBox="1"/>
          <p:nvPr/>
        </p:nvSpPr>
        <p:spPr>
          <a:xfrm>
            <a:off x="7748587" y="8962596"/>
            <a:ext cx="790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②</a:t>
            </a:r>
          </a:p>
        </p:txBody>
      </p:sp>
      <p:sp>
        <p:nvSpPr>
          <p:cNvPr id="344" name="①"/>
          <p:cNvSpPr txBox="1"/>
          <p:nvPr/>
        </p:nvSpPr>
        <p:spPr>
          <a:xfrm>
            <a:off x="13771122" y="6718117"/>
            <a:ext cx="79057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①</a:t>
            </a:r>
          </a:p>
        </p:txBody>
      </p:sp>
      <p:sp>
        <p:nvSpPr>
          <p:cNvPr id="345" name="③"/>
          <p:cNvSpPr txBox="1"/>
          <p:nvPr/>
        </p:nvSpPr>
        <p:spPr>
          <a:xfrm>
            <a:off x="13956482" y="9950052"/>
            <a:ext cx="790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③</a:t>
            </a:r>
          </a:p>
        </p:txBody>
      </p:sp>
      <p:sp>
        <p:nvSpPr>
          <p:cNvPr id="346" name="⑥"/>
          <p:cNvSpPr txBox="1"/>
          <p:nvPr/>
        </p:nvSpPr>
        <p:spPr>
          <a:xfrm>
            <a:off x="11444264" y="12771834"/>
            <a:ext cx="790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⑥</a:t>
            </a:r>
          </a:p>
        </p:txBody>
      </p:sp>
      <p:sp>
        <p:nvSpPr>
          <p:cNvPr id="347" name="④"/>
          <p:cNvSpPr txBox="1"/>
          <p:nvPr/>
        </p:nvSpPr>
        <p:spPr>
          <a:xfrm>
            <a:off x="16641340" y="5404284"/>
            <a:ext cx="79057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④</a:t>
            </a:r>
          </a:p>
        </p:txBody>
      </p:sp>
      <p:sp>
        <p:nvSpPr>
          <p:cNvPr id="348" name="⑤"/>
          <p:cNvSpPr txBox="1"/>
          <p:nvPr/>
        </p:nvSpPr>
        <p:spPr>
          <a:xfrm>
            <a:off x="20379886" y="6237721"/>
            <a:ext cx="790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⑤</a:t>
            </a:r>
          </a:p>
        </p:txBody>
      </p:sp>
      <p:pic>
        <p:nvPicPr>
          <p:cNvPr id="349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45053" y="7012247"/>
            <a:ext cx="5898762" cy="358193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55" name="グループ"/>
          <p:cNvGrpSpPr/>
          <p:nvPr/>
        </p:nvGrpSpPr>
        <p:grpSpPr>
          <a:xfrm>
            <a:off x="17223885" y="2923325"/>
            <a:ext cx="3702805" cy="1084586"/>
            <a:chOff x="0" y="0"/>
            <a:chExt cx="3702804" cy="1084585"/>
          </a:xfrm>
        </p:grpSpPr>
        <p:sp>
          <p:nvSpPr>
            <p:cNvPr id="350" name="角丸四角形"/>
            <p:cNvSpPr/>
            <p:nvPr/>
          </p:nvSpPr>
          <p:spPr>
            <a:xfrm>
              <a:off x="0" y="0"/>
              <a:ext cx="3702805" cy="1084586"/>
            </a:xfrm>
            <a:prstGeom prst="roundRect">
              <a:avLst>
                <a:gd name="adj" fmla="val 24700"/>
              </a:avLst>
            </a:pr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1" name="四角形"/>
            <p:cNvSpPr/>
            <p:nvPr/>
          </p:nvSpPr>
          <p:spPr>
            <a:xfrm>
              <a:off x="719191" y="266350"/>
              <a:ext cx="209570" cy="57033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2" name="四角形"/>
            <p:cNvSpPr/>
            <p:nvPr/>
          </p:nvSpPr>
          <p:spPr>
            <a:xfrm>
              <a:off x="1091784" y="266350"/>
              <a:ext cx="209569" cy="57033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3" name="四角形"/>
            <p:cNvSpPr/>
            <p:nvPr/>
          </p:nvSpPr>
          <p:spPr>
            <a:xfrm>
              <a:off x="2379826" y="266350"/>
              <a:ext cx="209569" cy="57033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4" name="四角形"/>
            <p:cNvSpPr/>
            <p:nvPr/>
          </p:nvSpPr>
          <p:spPr>
            <a:xfrm>
              <a:off x="2752418" y="266350"/>
              <a:ext cx="209569" cy="57033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356" name="でんげん"/>
          <p:cNvSpPr txBox="1"/>
          <p:nvPr/>
        </p:nvSpPr>
        <p:spPr>
          <a:xfrm>
            <a:off x="16129009" y="1465104"/>
            <a:ext cx="5892553" cy="1874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21531">
              <a:defRPr sz="56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でんげん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2人でつうしんしよう…"/>
          <p:cNvSpPr txBox="1"/>
          <p:nvPr>
            <p:ph type="title"/>
          </p:nvPr>
        </p:nvSpPr>
        <p:spPr>
          <a:xfrm>
            <a:off x="3233849" y="4375546"/>
            <a:ext cx="17916301" cy="3036095"/>
          </a:xfrm>
          <a:prstGeom prst="rect">
            <a:avLst/>
          </a:prstGeom>
        </p:spPr>
        <p:txBody>
          <a:bodyPr/>
          <a:lstStyle/>
          <a:p>
            <a:pPr defTabSz="665440">
              <a:defRPr sz="9072"/>
            </a:pPr>
            <a:r>
              <a:t>2人でつうしんしよう</a:t>
            </a:r>
          </a:p>
          <a:p>
            <a:pPr defTabSz="665440">
              <a:defRPr sz="9072"/>
            </a:pPr>
            <a:r>
              <a:t>Aさん、Bさんにわかれます</a:t>
            </a:r>
          </a:p>
        </p:txBody>
      </p:sp>
      <p:pic>
        <p:nvPicPr>
          <p:cNvPr id="365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それぞれちがういろの…"/>
          <p:cNvSpPr txBox="1"/>
          <p:nvPr>
            <p:ph type="title"/>
          </p:nvPr>
        </p:nvSpPr>
        <p:spPr>
          <a:xfrm>
            <a:off x="3233849" y="4375546"/>
            <a:ext cx="17916301" cy="3036095"/>
          </a:xfrm>
          <a:prstGeom prst="rect">
            <a:avLst/>
          </a:prstGeom>
        </p:spPr>
        <p:txBody>
          <a:bodyPr/>
          <a:lstStyle/>
          <a:p>
            <a:pPr defTabSz="665440">
              <a:defRPr sz="9072"/>
            </a:pPr>
            <a:r>
              <a:t>それぞれちがういろの</a:t>
            </a:r>
          </a:p>
          <a:p>
            <a:pPr defTabSz="665440">
              <a:defRPr sz="9072"/>
            </a:pPr>
            <a:r>
              <a:t>ジャンパー線を1本えらんでね</a:t>
            </a:r>
          </a:p>
        </p:txBody>
      </p:sp>
      <p:pic>
        <p:nvPicPr>
          <p:cNvPr id="368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えらんだジャンパーせんをIN1へ"/>
          <p:cNvSpPr txBox="1"/>
          <p:nvPr/>
        </p:nvSpPr>
        <p:spPr>
          <a:xfrm>
            <a:off x="5492940" y="107748"/>
            <a:ext cx="13398120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えらんだジャンパーせんをIN1へ</a:t>
            </a:r>
          </a:p>
        </p:txBody>
      </p:sp>
      <p:pic>
        <p:nvPicPr>
          <p:cNvPr id="371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60000">
            <a:off x="17057600" y="2452995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VIDEO1…"/>
          <p:cNvSpPr txBox="1"/>
          <p:nvPr/>
        </p:nvSpPr>
        <p:spPr>
          <a:xfrm>
            <a:off x="15618282" y="3270428"/>
            <a:ext cx="1513612" cy="743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VIDEO2</a:t>
            </a:r>
          </a:p>
          <a:p>
            <a:pPr algn="r" defTabSz="821531">
              <a:defRPr sz="2800">
                <a:solidFill>
                  <a:srgbClr val="C82506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IN1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VCC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GND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BTN</a:t>
            </a:r>
          </a:p>
          <a:p>
            <a:pPr algn="r" defTabSz="821531">
              <a:defRPr sz="2800">
                <a:solidFill>
                  <a:srgbClr val="C82506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LED</a:t>
            </a:r>
          </a:p>
        </p:txBody>
      </p:sp>
      <p:pic>
        <p:nvPicPr>
          <p:cNvPr id="373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10860000">
            <a:off x="-1853767" y="3556767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BさんのIN1"/>
          <p:cNvSpPr txBox="1"/>
          <p:nvPr/>
        </p:nvSpPr>
        <p:spPr>
          <a:xfrm>
            <a:off x="11366549" y="5034359"/>
            <a:ext cx="370522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BさんのIN1</a:t>
            </a:r>
          </a:p>
        </p:txBody>
      </p:sp>
      <p:sp>
        <p:nvSpPr>
          <p:cNvPr id="389" name="接続の線"/>
          <p:cNvSpPr/>
          <p:nvPr/>
        </p:nvSpPr>
        <p:spPr>
          <a:xfrm>
            <a:off x="6347802" y="9950730"/>
            <a:ext cx="5717071" cy="6612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101600">
            <a:solidFill>
              <a:srgbClr val="EC5D57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378" name="グループ"/>
          <p:cNvGrpSpPr/>
          <p:nvPr/>
        </p:nvGrpSpPr>
        <p:grpSpPr>
          <a:xfrm rot="10878162">
            <a:off x="4815622" y="10471636"/>
            <a:ext cx="1529966" cy="458113"/>
            <a:chOff x="0" y="0"/>
            <a:chExt cx="1529965" cy="458111"/>
          </a:xfrm>
        </p:grpSpPr>
        <p:sp>
          <p:nvSpPr>
            <p:cNvPr id="376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77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381" name="グループ"/>
          <p:cNvGrpSpPr/>
          <p:nvPr/>
        </p:nvGrpSpPr>
        <p:grpSpPr>
          <a:xfrm>
            <a:off x="11420743" y="9706971"/>
            <a:ext cx="1542514" cy="458112"/>
            <a:chOff x="0" y="0"/>
            <a:chExt cx="1542512" cy="458111"/>
          </a:xfrm>
        </p:grpSpPr>
        <p:sp>
          <p:nvSpPr>
            <p:cNvPr id="379" name="線"/>
            <p:cNvSpPr/>
            <p:nvPr/>
          </p:nvSpPr>
          <p:spPr>
            <a:xfrm>
              <a:off x="644322" y="229056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0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384" name="グループ"/>
          <p:cNvGrpSpPr/>
          <p:nvPr/>
        </p:nvGrpSpPr>
        <p:grpSpPr>
          <a:xfrm rot="10878162">
            <a:off x="7610922" y="3510659"/>
            <a:ext cx="1529966" cy="458113"/>
            <a:chOff x="0" y="0"/>
            <a:chExt cx="1529965" cy="458111"/>
          </a:xfrm>
        </p:grpSpPr>
        <p:sp>
          <p:nvSpPr>
            <p:cNvPr id="382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83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385" name="線"/>
          <p:cNvSpPr/>
          <p:nvPr/>
        </p:nvSpPr>
        <p:spPr>
          <a:xfrm>
            <a:off x="14813122" y="4433916"/>
            <a:ext cx="898190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386" name="四角形"/>
          <p:cNvSpPr/>
          <p:nvPr/>
        </p:nvSpPr>
        <p:spPr>
          <a:xfrm>
            <a:off x="14501155" y="4259291"/>
            <a:ext cx="634102" cy="4581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90" name="接続の線"/>
          <p:cNvSpPr/>
          <p:nvPr/>
        </p:nvSpPr>
        <p:spPr>
          <a:xfrm>
            <a:off x="9139068" y="3828399"/>
            <a:ext cx="5362088" cy="623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01600">
            <a:solidFill>
              <a:srgbClr val="0365C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88" name="AさんのIN1"/>
          <p:cNvSpPr txBox="1"/>
          <p:nvPr/>
        </p:nvSpPr>
        <p:spPr>
          <a:xfrm>
            <a:off x="5217528" y="11425826"/>
            <a:ext cx="377825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AさんのIN1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あいてがえらんだジャンパーせんをLEDへ"/>
          <p:cNvSpPr txBox="1"/>
          <p:nvPr/>
        </p:nvSpPr>
        <p:spPr>
          <a:xfrm>
            <a:off x="3577145" y="107748"/>
            <a:ext cx="17229710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あいてがえらんだジャンパーせんをLEDへ</a:t>
            </a:r>
          </a:p>
        </p:txBody>
      </p:sp>
      <p:sp>
        <p:nvSpPr>
          <p:cNvPr id="393" name="AさんのLED"/>
          <p:cNvSpPr txBox="1"/>
          <p:nvPr/>
        </p:nvSpPr>
        <p:spPr>
          <a:xfrm>
            <a:off x="4778385" y="3073578"/>
            <a:ext cx="397510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AさんのLED</a:t>
            </a:r>
          </a:p>
        </p:txBody>
      </p:sp>
      <p:pic>
        <p:nvPicPr>
          <p:cNvPr id="394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60000">
            <a:off x="17057600" y="2452995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395" name="VIDEO1…"/>
          <p:cNvSpPr txBox="1"/>
          <p:nvPr/>
        </p:nvSpPr>
        <p:spPr>
          <a:xfrm>
            <a:off x="15618282" y="3270428"/>
            <a:ext cx="1513612" cy="743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VIDEO2</a:t>
            </a:r>
          </a:p>
          <a:p>
            <a:pPr algn="r" defTabSz="821531">
              <a:defRPr sz="2800">
                <a:solidFill>
                  <a:srgbClr val="C82506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IN1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VCC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GND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BTN</a:t>
            </a:r>
          </a:p>
          <a:p>
            <a:pPr algn="r" defTabSz="821531">
              <a:defRPr sz="2800">
                <a:solidFill>
                  <a:srgbClr val="C82506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LED</a:t>
            </a:r>
          </a:p>
        </p:txBody>
      </p:sp>
      <p:pic>
        <p:nvPicPr>
          <p:cNvPr id="396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10860000">
            <a:off x="-1853767" y="3556767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397" name="BさんのIN1"/>
          <p:cNvSpPr txBox="1"/>
          <p:nvPr/>
        </p:nvSpPr>
        <p:spPr>
          <a:xfrm>
            <a:off x="11715962" y="5009401"/>
            <a:ext cx="37052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BさんのIN1</a:t>
            </a:r>
          </a:p>
        </p:txBody>
      </p:sp>
      <p:sp>
        <p:nvSpPr>
          <p:cNvPr id="413" name="接続の線"/>
          <p:cNvSpPr/>
          <p:nvPr/>
        </p:nvSpPr>
        <p:spPr>
          <a:xfrm>
            <a:off x="6345785" y="10700692"/>
            <a:ext cx="8498557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01600">
            <a:solidFill>
              <a:srgbClr val="EC5D57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401" name="グループ"/>
          <p:cNvGrpSpPr/>
          <p:nvPr/>
        </p:nvGrpSpPr>
        <p:grpSpPr>
          <a:xfrm rot="10878162">
            <a:off x="4815622" y="10471636"/>
            <a:ext cx="1529966" cy="458113"/>
            <a:chOff x="0" y="0"/>
            <a:chExt cx="1529965" cy="458111"/>
          </a:xfrm>
        </p:grpSpPr>
        <p:sp>
          <p:nvSpPr>
            <p:cNvPr id="399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0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404" name="グループ"/>
          <p:cNvGrpSpPr/>
          <p:nvPr/>
        </p:nvGrpSpPr>
        <p:grpSpPr>
          <a:xfrm>
            <a:off x="14200213" y="10471636"/>
            <a:ext cx="1542514" cy="458113"/>
            <a:chOff x="0" y="0"/>
            <a:chExt cx="1542512" cy="458111"/>
          </a:xfrm>
        </p:grpSpPr>
        <p:sp>
          <p:nvSpPr>
            <p:cNvPr id="402" name="線"/>
            <p:cNvSpPr/>
            <p:nvPr/>
          </p:nvSpPr>
          <p:spPr>
            <a:xfrm>
              <a:off x="644322" y="229056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3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407" name="グループ"/>
          <p:cNvGrpSpPr/>
          <p:nvPr/>
        </p:nvGrpSpPr>
        <p:grpSpPr>
          <a:xfrm rot="10878162">
            <a:off x="4815622" y="4334274"/>
            <a:ext cx="1529966" cy="458113"/>
            <a:chOff x="0" y="0"/>
            <a:chExt cx="1529965" cy="458111"/>
          </a:xfrm>
        </p:grpSpPr>
        <p:sp>
          <p:nvSpPr>
            <p:cNvPr id="405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6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408" name="線"/>
          <p:cNvSpPr/>
          <p:nvPr/>
        </p:nvSpPr>
        <p:spPr>
          <a:xfrm>
            <a:off x="14813122" y="4433916"/>
            <a:ext cx="898190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409" name="四角形"/>
          <p:cNvSpPr/>
          <p:nvPr/>
        </p:nvSpPr>
        <p:spPr>
          <a:xfrm>
            <a:off x="14501155" y="4259291"/>
            <a:ext cx="634102" cy="4581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14" name="接続の線"/>
          <p:cNvSpPr/>
          <p:nvPr/>
        </p:nvSpPr>
        <p:spPr>
          <a:xfrm>
            <a:off x="6345926" y="4490920"/>
            <a:ext cx="8155230" cy="661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101600">
            <a:solidFill>
              <a:srgbClr val="0365C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411" name="AさんのIN1"/>
          <p:cNvSpPr txBox="1"/>
          <p:nvPr/>
        </p:nvSpPr>
        <p:spPr>
          <a:xfrm>
            <a:off x="5053727" y="11386813"/>
            <a:ext cx="377825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AさんのIN1</a:t>
            </a:r>
          </a:p>
        </p:txBody>
      </p:sp>
      <p:sp>
        <p:nvSpPr>
          <p:cNvPr id="412" name="BさんのLED"/>
          <p:cNvSpPr txBox="1"/>
          <p:nvPr/>
        </p:nvSpPr>
        <p:spPr>
          <a:xfrm>
            <a:off x="12368488" y="11386813"/>
            <a:ext cx="39020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BさんのLED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あまったジャンパー線は…"/>
          <p:cNvSpPr txBox="1"/>
          <p:nvPr>
            <p:ph type="title"/>
          </p:nvPr>
        </p:nvSpPr>
        <p:spPr>
          <a:xfrm>
            <a:off x="3233849" y="4375546"/>
            <a:ext cx="17916301" cy="3036095"/>
          </a:xfrm>
          <a:prstGeom prst="rect">
            <a:avLst/>
          </a:prstGeom>
        </p:spPr>
        <p:txBody>
          <a:bodyPr/>
          <a:lstStyle/>
          <a:p>
            <a:pPr defTabSz="665440">
              <a:defRPr sz="9072"/>
            </a:pPr>
            <a:r>
              <a:t>あまったジャンパー線は</a:t>
            </a:r>
          </a:p>
          <a:p>
            <a:pPr defTabSz="665440">
              <a:defRPr sz="9072"/>
            </a:pPr>
            <a:r>
              <a:t>おなじ色かな？</a:t>
            </a:r>
          </a:p>
        </p:txBody>
      </p:sp>
      <p:pic>
        <p:nvPicPr>
          <p:cNvPr id="417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あまったジャンパー線を1本をGNDへ"/>
          <p:cNvSpPr txBox="1"/>
          <p:nvPr/>
        </p:nvSpPr>
        <p:spPr>
          <a:xfrm>
            <a:off x="4403150" y="482325"/>
            <a:ext cx="15146783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あまったジャンパー線を1本をGNDへ</a:t>
            </a:r>
          </a:p>
        </p:txBody>
      </p:sp>
      <p:sp>
        <p:nvSpPr>
          <p:cNvPr id="420" name="BさんのGND"/>
          <p:cNvSpPr txBox="1"/>
          <p:nvPr/>
        </p:nvSpPr>
        <p:spPr>
          <a:xfrm>
            <a:off x="11433088" y="5417684"/>
            <a:ext cx="401002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BさんのGND</a:t>
            </a:r>
          </a:p>
        </p:txBody>
      </p:sp>
      <p:sp>
        <p:nvSpPr>
          <p:cNvPr id="421" name="IN1"/>
          <p:cNvSpPr txBox="1"/>
          <p:nvPr/>
        </p:nvSpPr>
        <p:spPr>
          <a:xfrm>
            <a:off x="14138438" y="3305596"/>
            <a:ext cx="135953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</a:t>
            </a:r>
          </a:p>
        </p:txBody>
      </p:sp>
      <p:sp>
        <p:nvSpPr>
          <p:cNvPr id="422" name="LED"/>
          <p:cNvSpPr txBox="1"/>
          <p:nvPr/>
        </p:nvSpPr>
        <p:spPr>
          <a:xfrm>
            <a:off x="13540970" y="8998924"/>
            <a:ext cx="155638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LED</a:t>
            </a:r>
          </a:p>
        </p:txBody>
      </p:sp>
      <p:pic>
        <p:nvPicPr>
          <p:cNvPr id="423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60000">
            <a:off x="17057600" y="2452995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VIDEO1…"/>
          <p:cNvSpPr txBox="1"/>
          <p:nvPr/>
        </p:nvSpPr>
        <p:spPr>
          <a:xfrm>
            <a:off x="15618282" y="3270428"/>
            <a:ext cx="1513612" cy="743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VIDEO2</a:t>
            </a:r>
          </a:p>
          <a:p>
            <a:pPr algn="r" defTabSz="821531">
              <a:defRPr sz="2800">
                <a:solidFill>
                  <a:srgbClr val="C82506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IN1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VCC</a:t>
            </a:r>
          </a:p>
          <a:p>
            <a:pPr algn="r" defTabSz="821531">
              <a:defRPr sz="2800">
                <a:solidFill>
                  <a:srgbClr val="C82506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GND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BTN</a:t>
            </a:r>
          </a:p>
          <a:p>
            <a:pPr algn="r" defTabSz="821531">
              <a:defRPr sz="2800">
                <a:solidFill>
                  <a:srgbClr val="C82506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LED</a:t>
            </a:r>
          </a:p>
        </p:txBody>
      </p:sp>
      <p:pic>
        <p:nvPicPr>
          <p:cNvPr id="425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10860000">
            <a:off x="-1853767" y="3556767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426" name="IN1"/>
          <p:cNvSpPr txBox="1"/>
          <p:nvPr/>
        </p:nvSpPr>
        <p:spPr>
          <a:xfrm>
            <a:off x="5530219" y="9167781"/>
            <a:ext cx="135953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</a:t>
            </a:r>
          </a:p>
        </p:txBody>
      </p:sp>
      <p:sp>
        <p:nvSpPr>
          <p:cNvPr id="427" name="AさんのGND"/>
          <p:cNvSpPr txBox="1"/>
          <p:nvPr/>
        </p:nvSpPr>
        <p:spPr>
          <a:xfrm>
            <a:off x="5193419" y="5769225"/>
            <a:ext cx="408305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AさんのGND</a:t>
            </a:r>
          </a:p>
        </p:txBody>
      </p:sp>
      <p:sp>
        <p:nvSpPr>
          <p:cNvPr id="428" name="LED"/>
          <p:cNvSpPr txBox="1"/>
          <p:nvPr/>
        </p:nvSpPr>
        <p:spPr>
          <a:xfrm>
            <a:off x="5861439" y="3457817"/>
            <a:ext cx="155638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LED</a:t>
            </a:r>
          </a:p>
        </p:txBody>
      </p:sp>
      <p:sp>
        <p:nvSpPr>
          <p:cNvPr id="448" name="接続の線"/>
          <p:cNvSpPr/>
          <p:nvPr/>
        </p:nvSpPr>
        <p:spPr>
          <a:xfrm>
            <a:off x="6345785" y="10700692"/>
            <a:ext cx="8498557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01600">
            <a:solidFill>
              <a:srgbClr val="EC5D57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432" name="グループ"/>
          <p:cNvGrpSpPr/>
          <p:nvPr/>
        </p:nvGrpSpPr>
        <p:grpSpPr>
          <a:xfrm rot="10878162">
            <a:off x="4815622" y="4334274"/>
            <a:ext cx="1529966" cy="458113"/>
            <a:chOff x="0" y="0"/>
            <a:chExt cx="1529965" cy="458111"/>
          </a:xfrm>
        </p:grpSpPr>
        <p:sp>
          <p:nvSpPr>
            <p:cNvPr id="430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31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449" name="接続の線"/>
          <p:cNvSpPr/>
          <p:nvPr/>
        </p:nvSpPr>
        <p:spPr>
          <a:xfrm>
            <a:off x="6265001" y="6521495"/>
            <a:ext cx="7737109" cy="363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71" fill="norm" stroke="1" extrusionOk="0">
                <a:moveTo>
                  <a:pt x="0" y="12256"/>
                </a:moveTo>
                <a:cubicBezTo>
                  <a:pt x="4713" y="-5329"/>
                  <a:pt x="11913" y="-3991"/>
                  <a:pt x="21600" y="16271"/>
                </a:cubicBezTo>
              </a:path>
            </a:pathLst>
          </a:custGeom>
          <a:ln w="1016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434" name="線"/>
          <p:cNvSpPr/>
          <p:nvPr/>
        </p:nvSpPr>
        <p:spPr>
          <a:xfrm>
            <a:off x="14522375" y="6927064"/>
            <a:ext cx="898191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437" name="グループ"/>
          <p:cNvGrpSpPr/>
          <p:nvPr/>
        </p:nvGrpSpPr>
        <p:grpSpPr>
          <a:xfrm rot="19655909">
            <a:off x="4896821" y="6478832"/>
            <a:ext cx="1413091" cy="1015867"/>
            <a:chOff x="0" y="0"/>
            <a:chExt cx="1413090" cy="1015865"/>
          </a:xfrm>
        </p:grpSpPr>
        <p:sp>
          <p:nvSpPr>
            <p:cNvPr id="435" name="四角形"/>
            <p:cNvSpPr/>
            <p:nvPr/>
          </p:nvSpPr>
          <p:spPr>
            <a:xfrm rot="12751864">
              <a:off x="705558" y="423197"/>
              <a:ext cx="634102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36" name="線"/>
            <p:cNvSpPr/>
            <p:nvPr/>
          </p:nvSpPr>
          <p:spPr>
            <a:xfrm flipH="1" flipV="1">
              <a:off x="0" y="0"/>
              <a:ext cx="757264" cy="483008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438" name="四角形"/>
          <p:cNvSpPr/>
          <p:nvPr/>
        </p:nvSpPr>
        <p:spPr>
          <a:xfrm>
            <a:off x="14002112" y="6698008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39" name="線"/>
          <p:cNvSpPr/>
          <p:nvPr/>
        </p:nvSpPr>
        <p:spPr>
          <a:xfrm>
            <a:off x="14813122" y="4433916"/>
            <a:ext cx="898190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440" name="四角形"/>
          <p:cNvSpPr/>
          <p:nvPr/>
        </p:nvSpPr>
        <p:spPr>
          <a:xfrm>
            <a:off x="14501155" y="4259291"/>
            <a:ext cx="634102" cy="4581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grpSp>
        <p:nvGrpSpPr>
          <p:cNvPr id="443" name="グループ"/>
          <p:cNvGrpSpPr/>
          <p:nvPr/>
        </p:nvGrpSpPr>
        <p:grpSpPr>
          <a:xfrm rot="10878162">
            <a:off x="4815622" y="10471636"/>
            <a:ext cx="1529966" cy="458113"/>
            <a:chOff x="0" y="0"/>
            <a:chExt cx="1529965" cy="458111"/>
          </a:xfrm>
        </p:grpSpPr>
        <p:sp>
          <p:nvSpPr>
            <p:cNvPr id="441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2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450" name="接続の線"/>
          <p:cNvSpPr/>
          <p:nvPr/>
        </p:nvSpPr>
        <p:spPr>
          <a:xfrm>
            <a:off x="6345926" y="4490920"/>
            <a:ext cx="8155230" cy="661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101600">
            <a:solidFill>
              <a:srgbClr val="0365C0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447" name="グループ"/>
          <p:cNvGrpSpPr/>
          <p:nvPr/>
        </p:nvGrpSpPr>
        <p:grpSpPr>
          <a:xfrm>
            <a:off x="14200213" y="10471636"/>
            <a:ext cx="1542514" cy="458113"/>
            <a:chOff x="0" y="0"/>
            <a:chExt cx="1542512" cy="458111"/>
          </a:xfrm>
        </p:grpSpPr>
        <p:sp>
          <p:nvSpPr>
            <p:cNvPr id="445" name="線"/>
            <p:cNvSpPr/>
            <p:nvPr/>
          </p:nvSpPr>
          <p:spPr>
            <a:xfrm>
              <a:off x="644322" y="229056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6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ボタンをおしてみよう…"/>
          <p:cNvSpPr txBox="1"/>
          <p:nvPr>
            <p:ph type="title"/>
          </p:nvPr>
        </p:nvSpPr>
        <p:spPr>
          <a:xfrm>
            <a:off x="6032118" y="7783573"/>
            <a:ext cx="17916301" cy="3973918"/>
          </a:xfrm>
          <a:prstGeom prst="rect">
            <a:avLst/>
          </a:prstGeom>
        </p:spPr>
        <p:txBody>
          <a:bodyPr/>
          <a:lstStyle/>
          <a:p>
            <a:pPr defTabSz="550425">
              <a:defRPr sz="7504"/>
            </a:pPr>
            <a:r>
              <a:t>ボタンをおしてみよう</a:t>
            </a:r>
          </a:p>
          <a:p>
            <a:pPr defTabSz="550425">
              <a:defRPr sz="7504"/>
            </a:pPr>
            <a:r>
              <a:t>0と1だけで</a:t>
            </a:r>
          </a:p>
          <a:p>
            <a:pPr defTabSz="550425">
              <a:defRPr sz="7504"/>
            </a:pPr>
            <a:r>
              <a:t>つたわる？</a:t>
            </a:r>
          </a:p>
        </p:txBody>
      </p:sp>
      <p:pic>
        <p:nvPicPr>
          <p:cNvPr id="453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543258" y="9187662"/>
            <a:ext cx="4818023" cy="4512655"/>
          </a:xfrm>
          <a:prstGeom prst="rect">
            <a:avLst/>
          </a:prstGeom>
          <a:ln w="12700">
            <a:miter lim="400000"/>
          </a:ln>
        </p:spPr>
      </p:pic>
      <p:sp>
        <p:nvSpPr>
          <p:cNvPr id="454" name="1 ?IN(1);:WAIT8…"/>
          <p:cNvSpPr txBox="1"/>
          <p:nvPr/>
        </p:nvSpPr>
        <p:spPr>
          <a:xfrm>
            <a:off x="5250096" y="3130757"/>
            <a:ext cx="17136896" cy="4206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 defTabSz="821531">
              <a:defRPr sz="8000">
                <a:solidFill>
                  <a:srgbClr val="000000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pPr>
            <a:r>
              <a:t>1 ?IN(1);:WAIT8</a:t>
            </a:r>
          </a:p>
          <a:p>
            <a:pPr algn="l" defTabSz="821531">
              <a:defRPr sz="8000">
                <a:solidFill>
                  <a:srgbClr val="000000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pPr>
            <a:r>
              <a:t>2 LED BTN()</a:t>
            </a:r>
          </a:p>
          <a:p>
            <a:pPr algn="l" defTabSz="821531">
              <a:defRPr sz="8000">
                <a:solidFill>
                  <a:srgbClr val="000000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pPr>
            <a:r>
              <a:t>3 GOTO 1</a:t>
            </a:r>
          </a:p>
        </p:txBody>
      </p:sp>
      <p:sp>
        <p:nvSpPr>
          <p:cNvPr id="455" name="Shift+8"/>
          <p:cNvSpPr txBox="1"/>
          <p:nvPr/>
        </p:nvSpPr>
        <p:spPr>
          <a:xfrm>
            <a:off x="6912891" y="578525"/>
            <a:ext cx="5468296" cy="1769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l" defTabSz="584200">
              <a:defRPr sz="8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Shift+8</a:t>
            </a:r>
          </a:p>
        </p:txBody>
      </p:sp>
      <p:sp>
        <p:nvSpPr>
          <p:cNvPr id="456" name="矢印"/>
          <p:cNvSpPr/>
          <p:nvPr/>
        </p:nvSpPr>
        <p:spPr>
          <a:xfrm rot="5400000">
            <a:off x="10463866" y="2011315"/>
            <a:ext cx="835095" cy="872264"/>
          </a:xfrm>
          <a:prstGeom prst="rightArrow">
            <a:avLst>
              <a:gd name="adj1" fmla="val 32000"/>
              <a:gd name="adj2" fmla="val 41420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矢印"/>
          <p:cNvSpPr/>
          <p:nvPr/>
        </p:nvSpPr>
        <p:spPr>
          <a:xfrm rot="5400000">
            <a:off x="12223698" y="2011315"/>
            <a:ext cx="835094" cy="872264"/>
          </a:xfrm>
          <a:prstGeom prst="rightArrow">
            <a:avLst>
              <a:gd name="adj1" fmla="val 32000"/>
              <a:gd name="adj2" fmla="val 41420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Shift+9"/>
          <p:cNvSpPr txBox="1"/>
          <p:nvPr/>
        </p:nvSpPr>
        <p:spPr>
          <a:xfrm>
            <a:off x="12256120" y="578525"/>
            <a:ext cx="5468296" cy="1769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l" defTabSz="584200">
              <a:defRPr sz="8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Shift+9</a:t>
            </a:r>
          </a:p>
        </p:txBody>
      </p:sp>
      <p:sp>
        <p:nvSpPr>
          <p:cNvPr id="459" name="矢印"/>
          <p:cNvSpPr/>
          <p:nvPr/>
        </p:nvSpPr>
        <p:spPr>
          <a:xfrm rot="2100000">
            <a:off x="6497749" y="2280833"/>
            <a:ext cx="835095" cy="872263"/>
          </a:xfrm>
          <a:prstGeom prst="rightArrow">
            <a:avLst>
              <a:gd name="adj1" fmla="val 32000"/>
              <a:gd name="adj2" fmla="val 41420"/>
            </a:avLst>
          </a:prstGeom>
          <a:blipFill>
            <a:blip r:embed="rId5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Shift+め"/>
          <p:cNvSpPr txBox="1"/>
          <p:nvPr/>
        </p:nvSpPr>
        <p:spPr>
          <a:xfrm>
            <a:off x="1576292" y="1334254"/>
            <a:ext cx="5468295" cy="1769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l" defTabSz="584200">
              <a:defRPr sz="8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Shift+め</a:t>
            </a:r>
          </a:p>
        </p:txBody>
      </p:sp>
      <p:pic>
        <p:nvPicPr>
          <p:cNvPr id="461" name="pasted-image.png" descr="pasted-image.png"/>
          <p:cNvPicPr>
            <a:picLocks noChangeAspect="1"/>
          </p:cNvPicPr>
          <p:nvPr/>
        </p:nvPicPr>
        <p:blipFill>
          <a:blip r:embed="rId6">
            <a:extLst/>
          </a:blip>
          <a:srcRect l="0" t="0" r="1643" b="0"/>
          <a:stretch>
            <a:fillRect/>
          </a:stretch>
        </p:blipFill>
        <p:spPr>
          <a:xfrm>
            <a:off x="599053" y="9635647"/>
            <a:ext cx="8642611" cy="3638208"/>
          </a:xfrm>
          <a:prstGeom prst="rect">
            <a:avLst/>
          </a:prstGeom>
          <a:ln w="12700">
            <a:miter lim="400000"/>
          </a:ln>
        </p:spPr>
      </p:pic>
      <p:sp>
        <p:nvSpPr>
          <p:cNvPr id="462" name="円形"/>
          <p:cNvSpPr/>
          <p:nvPr/>
        </p:nvSpPr>
        <p:spPr>
          <a:xfrm>
            <a:off x="3243446" y="9546709"/>
            <a:ext cx="914666" cy="914666"/>
          </a:xfrm>
          <a:prstGeom prst="ellipse">
            <a:avLst/>
          </a:prstGeom>
          <a:ln w="254000">
            <a:solidFill>
              <a:srgbClr val="C82506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463" name="F5キーでうごかす"/>
          <p:cNvSpPr txBox="1"/>
          <p:nvPr/>
        </p:nvSpPr>
        <p:spPr>
          <a:xfrm>
            <a:off x="3025799" y="7880081"/>
            <a:ext cx="5874713" cy="1440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l" defTabSz="397256">
              <a:defRPr sz="544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F5キーでうごかす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AさんとBさん…"/>
          <p:cNvSpPr txBox="1"/>
          <p:nvPr>
            <p:ph type="title"/>
          </p:nvPr>
        </p:nvSpPr>
        <p:spPr>
          <a:xfrm>
            <a:off x="754209" y="1102585"/>
            <a:ext cx="22875582" cy="6560837"/>
          </a:xfrm>
          <a:prstGeom prst="rect">
            <a:avLst/>
          </a:prstGeom>
        </p:spPr>
        <p:txBody>
          <a:bodyPr/>
          <a:lstStyle/>
          <a:p>
            <a:pPr/>
            <a:r>
              <a:t>AさんとBさん</a:t>
            </a:r>
          </a:p>
          <a:p>
            <a:pPr/>
            <a:r>
              <a:t>おたがいみえない</a:t>
            </a:r>
          </a:p>
          <a:p>
            <a:pPr/>
            <a:r>
              <a:t>とおくにいきます</a:t>
            </a:r>
          </a:p>
        </p:txBody>
      </p:sp>
      <p:pic>
        <p:nvPicPr>
          <p:cNvPr id="466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げんきかどうか…"/>
          <p:cNvSpPr txBox="1"/>
          <p:nvPr>
            <p:ph type="title"/>
          </p:nvPr>
        </p:nvSpPr>
        <p:spPr>
          <a:xfrm>
            <a:off x="3233849" y="1700867"/>
            <a:ext cx="17916303" cy="5710774"/>
          </a:xfrm>
          <a:prstGeom prst="rect">
            <a:avLst/>
          </a:prstGeom>
        </p:spPr>
        <p:txBody>
          <a:bodyPr/>
          <a:lstStyle/>
          <a:p>
            <a:pPr defTabSz="796885">
              <a:defRPr sz="10864"/>
            </a:pPr>
            <a:r>
              <a:t>げんきかどうか</a:t>
            </a:r>
          </a:p>
          <a:p>
            <a:pPr defTabSz="796885">
              <a:defRPr sz="10864"/>
            </a:pPr>
            <a:r>
              <a:t>かくにんする</a:t>
            </a:r>
          </a:p>
          <a:p>
            <a:pPr defTabSz="796885">
              <a:defRPr sz="10864"/>
            </a:pPr>
            <a:r>
              <a:t>やくそくをきめよう（1分）</a:t>
            </a:r>
          </a:p>
        </p:txBody>
      </p:sp>
      <p:pic>
        <p:nvPicPr>
          <p:cNvPr id="469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げんきかどうか…"/>
          <p:cNvSpPr txBox="1"/>
          <p:nvPr>
            <p:ph type="title"/>
          </p:nvPr>
        </p:nvSpPr>
        <p:spPr>
          <a:xfrm>
            <a:off x="3233849" y="3324656"/>
            <a:ext cx="17916303" cy="4086985"/>
          </a:xfrm>
          <a:prstGeom prst="rect">
            <a:avLst/>
          </a:prstGeom>
        </p:spPr>
        <p:txBody>
          <a:bodyPr/>
          <a:lstStyle/>
          <a:p>
            <a:pPr/>
            <a:r>
              <a:t>げんきかどうか</a:t>
            </a:r>
          </a:p>
          <a:p>
            <a:pPr/>
            <a:r>
              <a:t>かくにんしよう</a:t>
            </a:r>
          </a:p>
        </p:txBody>
      </p:sp>
      <p:pic>
        <p:nvPicPr>
          <p:cNvPr id="472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Aさんにこっそり教えるよ…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Aさんにこっそり教えるよ</a:t>
            </a:r>
          </a:p>
          <a:p>
            <a:pPr/>
            <a:r>
              <a:t>Bさんはふせてね</a:t>
            </a:r>
          </a:p>
        </p:txBody>
      </p:sp>
      <p:pic>
        <p:nvPicPr>
          <p:cNvPr id="475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「げんき」とおくろう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「げんき」とおくろう</a:t>
            </a:r>
          </a:p>
        </p:txBody>
      </p:sp>
      <p:pic>
        <p:nvPicPr>
          <p:cNvPr id="478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AさんはBさんにおくろう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AさんはBさんにおくろう</a:t>
            </a:r>
          </a:p>
        </p:txBody>
      </p:sp>
      <p:pic>
        <p:nvPicPr>
          <p:cNvPr id="481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Bさんにこっそり教えるよ…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Bさんにこっそり教えるよ</a:t>
            </a:r>
          </a:p>
          <a:p>
            <a:pPr/>
            <a:r>
              <a:t>Aさんはふせてね</a:t>
            </a:r>
          </a:p>
        </p:txBody>
      </p:sp>
      <p:pic>
        <p:nvPicPr>
          <p:cNvPr id="484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「げんきじゃない」とおくろう"/>
          <p:cNvSpPr txBox="1"/>
          <p:nvPr>
            <p:ph type="title"/>
          </p:nvPr>
        </p:nvSpPr>
        <p:spPr>
          <a:xfrm>
            <a:off x="1753691" y="2455703"/>
            <a:ext cx="20876618" cy="4955938"/>
          </a:xfrm>
          <a:prstGeom prst="rect">
            <a:avLst/>
          </a:prstGeom>
        </p:spPr>
        <p:txBody>
          <a:bodyPr/>
          <a:lstStyle/>
          <a:p>
            <a:pPr/>
            <a:r>
              <a:t>「げんきじゃない」とおくろう</a:t>
            </a:r>
          </a:p>
        </p:txBody>
      </p:sp>
      <p:pic>
        <p:nvPicPr>
          <p:cNvPr id="487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BさんはAさんにおくろう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BさんはAさんにおくろう</a:t>
            </a:r>
          </a:p>
        </p:txBody>
      </p:sp>
      <p:pic>
        <p:nvPicPr>
          <p:cNvPr id="490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おちあうばしょを…"/>
          <p:cNvSpPr txBox="1"/>
          <p:nvPr>
            <p:ph type="title"/>
          </p:nvPr>
        </p:nvSpPr>
        <p:spPr>
          <a:xfrm>
            <a:off x="759392" y="1158948"/>
            <a:ext cx="22568042" cy="6969300"/>
          </a:xfrm>
          <a:prstGeom prst="rect">
            <a:avLst/>
          </a:prstGeom>
        </p:spPr>
        <p:txBody>
          <a:bodyPr/>
          <a:lstStyle/>
          <a:p>
            <a:pPr defTabSz="772239">
              <a:defRPr sz="10528"/>
            </a:pPr>
            <a:r>
              <a:t>おちあうばしょを</a:t>
            </a:r>
          </a:p>
          <a:p>
            <a:pPr defTabSz="772239">
              <a:defRPr sz="10528"/>
            </a:pPr>
            <a:r>
              <a:t>（ひらがな 2もじ）</a:t>
            </a:r>
          </a:p>
          <a:p>
            <a:pPr defTabSz="772239">
              <a:defRPr sz="10528"/>
            </a:pPr>
            <a:r>
              <a:t>つたえるやくそくをきめよう（3分）</a:t>
            </a:r>
          </a:p>
        </p:txBody>
      </p:sp>
      <p:pic>
        <p:nvPicPr>
          <p:cNvPr id="493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Aさんにこっそり教えるよ…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Aさんにこっそり教えるよ</a:t>
            </a:r>
          </a:p>
          <a:p>
            <a:pPr/>
            <a:r>
              <a:t>Bさんはふせてね</a:t>
            </a:r>
          </a:p>
        </p:txBody>
      </p:sp>
      <p:pic>
        <p:nvPicPr>
          <p:cNvPr id="496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えき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えき</a:t>
            </a:r>
          </a:p>
        </p:txBody>
      </p:sp>
      <p:pic>
        <p:nvPicPr>
          <p:cNvPr id="499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AさんはBさんにおくろう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AさんはBさんにおくろう</a:t>
            </a:r>
          </a:p>
        </p:txBody>
      </p:sp>
      <p:pic>
        <p:nvPicPr>
          <p:cNvPr id="502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えき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えき</a:t>
            </a:r>
          </a:p>
        </p:txBody>
      </p:sp>
      <p:pic>
        <p:nvPicPr>
          <p:cNvPr id="505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どんなやくそくにした！？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どんなやくそくにした！？</a:t>
            </a:r>
          </a:p>
        </p:txBody>
      </p:sp>
      <p:pic>
        <p:nvPicPr>
          <p:cNvPr id="508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おちあうばしょをつたえるやくそく…"/>
          <p:cNvSpPr txBox="1"/>
          <p:nvPr>
            <p:ph type="title"/>
          </p:nvPr>
        </p:nvSpPr>
        <p:spPr>
          <a:xfrm>
            <a:off x="759392" y="1158948"/>
            <a:ext cx="22568042" cy="6969300"/>
          </a:xfrm>
          <a:prstGeom prst="rect">
            <a:avLst/>
          </a:prstGeom>
        </p:spPr>
        <p:txBody>
          <a:bodyPr/>
          <a:lstStyle/>
          <a:p>
            <a:pPr defTabSz="558641">
              <a:defRPr sz="7616"/>
            </a:pPr>
            <a:r>
              <a:t>おちあうばしょをつたえるやくそく</a:t>
            </a:r>
          </a:p>
          <a:p>
            <a:pPr defTabSz="558641">
              <a:defRPr sz="7616"/>
            </a:pPr>
            <a:r>
              <a:t>（ひらがな 2もじ）</a:t>
            </a:r>
          </a:p>
          <a:p>
            <a:pPr defTabSz="558641">
              <a:defRPr sz="7616"/>
            </a:pPr>
          </a:p>
          <a:p>
            <a:pPr defTabSz="558641">
              <a:defRPr sz="7616"/>
            </a:pPr>
            <a:r>
              <a:t>しいんを１〜10回、ぼいんを１〜5回</a:t>
            </a:r>
          </a:p>
          <a:p>
            <a:pPr defTabSz="558641">
              <a:defRPr sz="7616"/>
            </a:pPr>
            <a:r>
              <a:t>れい）1回1回＝あ、3回2回＝し</a:t>
            </a:r>
          </a:p>
        </p:txBody>
      </p:sp>
      <p:pic>
        <p:nvPicPr>
          <p:cNvPr id="511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Bさんにこっそり教えるよ…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Bさんにこっそり教えるよ</a:t>
            </a:r>
          </a:p>
          <a:p>
            <a:pPr/>
            <a:r>
              <a:t>Aさんはふせてね</a:t>
            </a:r>
          </a:p>
        </p:txBody>
      </p:sp>
      <p:pic>
        <p:nvPicPr>
          <p:cNvPr id="514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はし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はし</a:t>
            </a:r>
          </a:p>
        </p:txBody>
      </p:sp>
      <p:pic>
        <p:nvPicPr>
          <p:cNvPr id="517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BさんはAさんにおくろう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BさんはAさんにおくろう</a:t>
            </a:r>
          </a:p>
        </p:txBody>
      </p:sp>
      <p:pic>
        <p:nvPicPr>
          <p:cNvPr id="520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はし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はし</a:t>
            </a:r>
          </a:p>
        </p:txBody>
      </p:sp>
      <p:pic>
        <p:nvPicPr>
          <p:cNvPr id="523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やくそく＝プロトコル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やくそく＝プロトコル</a:t>
            </a:r>
          </a:p>
        </p:txBody>
      </p:sp>
      <p:pic>
        <p:nvPicPr>
          <p:cNvPr id="526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UART プロトコル"/>
          <p:cNvSpPr txBox="1"/>
          <p:nvPr>
            <p:ph type="title"/>
          </p:nvPr>
        </p:nvSpPr>
        <p:spPr>
          <a:xfrm>
            <a:off x="3233849" y="625078"/>
            <a:ext cx="17916301" cy="3036094"/>
          </a:xfrm>
          <a:prstGeom prst="rect">
            <a:avLst/>
          </a:prstGeom>
        </p:spPr>
        <p:txBody>
          <a:bodyPr/>
          <a:lstStyle/>
          <a:p>
            <a:pPr/>
            <a:r>
              <a:t>UART プロトコル</a:t>
            </a:r>
          </a:p>
        </p:txBody>
      </p:sp>
      <p:sp>
        <p:nvSpPr>
          <p:cNvPr id="529" name="100万分の8.68秒…"/>
          <p:cNvSpPr txBox="1"/>
          <p:nvPr/>
        </p:nvSpPr>
        <p:spPr>
          <a:xfrm>
            <a:off x="2475268" y="8369298"/>
            <a:ext cx="5351146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100万分の8.68秒</a:t>
            </a:r>
          </a:p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115,200bps</a:t>
            </a:r>
          </a:p>
        </p:txBody>
      </p:sp>
      <p:sp>
        <p:nvSpPr>
          <p:cNvPr id="530" name="0"/>
          <p:cNvSpPr txBox="1"/>
          <p:nvPr/>
        </p:nvSpPr>
        <p:spPr>
          <a:xfrm>
            <a:off x="2205522" y="6958458"/>
            <a:ext cx="57277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31" name="1"/>
          <p:cNvSpPr txBox="1"/>
          <p:nvPr/>
        </p:nvSpPr>
        <p:spPr>
          <a:xfrm>
            <a:off x="2169803" y="5591989"/>
            <a:ext cx="57277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32" name="100万分の86.8秒で1文字(8bit)送信…"/>
          <p:cNvSpPr txBox="1"/>
          <p:nvPr/>
        </p:nvSpPr>
        <p:spPr>
          <a:xfrm>
            <a:off x="11027518" y="10577155"/>
            <a:ext cx="12407266" cy="2365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100万分の86.8秒で1文字(8bit)送信</a:t>
            </a:r>
          </a:p>
          <a:p>
            <a:pPr defTabSz="821531">
              <a:defRPr sz="10000">
                <a:solidFill>
                  <a:srgbClr val="000000"/>
                </a:solidFill>
              </a:defRPr>
            </a:pPr>
            <a:r>
              <a:t>→ 1秒間に約1万文字</a:t>
            </a:r>
          </a:p>
        </p:txBody>
      </p:sp>
      <p:graphicFrame>
        <p:nvGraphicFramePr>
          <p:cNvPr id="533" name="表1"/>
          <p:cNvGraphicFramePr/>
          <p:nvPr/>
        </p:nvGraphicFramePr>
        <p:xfrm>
          <a:off x="3184221" y="6076167"/>
          <a:ext cx="17943091" cy="13077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</a:tblGrid>
              <a:tr h="1269674"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3175">
                      <a:miter lim="400000"/>
                    </a:lnL>
                    <a:lnR w="50800">
                      <a:solidFill>
                        <a:srgbClr val="000000"/>
                      </a:solidFill>
                      <a:miter lim="400000"/>
                    </a:lnR>
                    <a:lnT w="508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A6AAA9"/>
                      </a:solidFill>
                      <a:custDash>
                        <a:ds d="100000" sp="200000"/>
                      </a:custDash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000000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12700">
                      <a:miter lim="400000"/>
                    </a:lnT>
                    <a:lnB w="508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000000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000000"/>
                      </a:solidFill>
                      <a:miter lim="400000"/>
                    </a:lnL>
                    <a:lnR w="50800">
                      <a:solidFill>
                        <a:srgbClr val="000000"/>
                      </a:solidFill>
                      <a:miter lim="400000"/>
                    </a:lnR>
                    <a:lnT w="508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A6AAA9"/>
                      </a:solidFill>
                      <a:custDash>
                        <a:ds d="100000" sp="200000"/>
                      </a:custDash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000000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12700">
                      <a:miter lim="400000"/>
                    </a:lnT>
                    <a:lnB w="508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4" name="双方向矢印"/>
          <p:cNvSpPr/>
          <p:nvPr/>
        </p:nvSpPr>
        <p:spPr>
          <a:xfrm>
            <a:off x="4360244" y="7673625"/>
            <a:ext cx="1214624" cy="369280"/>
          </a:xfrm>
          <a:prstGeom prst="leftRightArrow">
            <a:avLst>
              <a:gd name="adj1" fmla="val 19358"/>
              <a:gd name="adj2" fmla="val 5665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535" name="おたがいタイミングをあわせる作戦"/>
          <p:cNvSpPr txBox="1"/>
          <p:nvPr/>
        </p:nvSpPr>
        <p:spPr>
          <a:xfrm>
            <a:off x="6717247" y="3801257"/>
            <a:ext cx="1029652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おたがいタイミングをあわせる作戦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ケータイの5Gは？"/>
          <p:cNvSpPr txBox="1"/>
          <p:nvPr>
            <p:ph type="title"/>
          </p:nvPr>
        </p:nvSpPr>
        <p:spPr>
          <a:xfrm>
            <a:off x="3233849" y="430893"/>
            <a:ext cx="17916301" cy="3036095"/>
          </a:xfrm>
          <a:prstGeom prst="rect">
            <a:avLst/>
          </a:prstGeom>
        </p:spPr>
        <p:txBody>
          <a:bodyPr/>
          <a:lstStyle/>
          <a:p>
            <a:pPr/>
            <a:r>
              <a:t>ケータイの5Gは？</a:t>
            </a:r>
          </a:p>
        </p:txBody>
      </p:sp>
      <p:sp>
        <p:nvSpPr>
          <p:cNvPr id="538" name="10Gbps = 1秒間に1億文字"/>
          <p:cNvSpPr txBox="1"/>
          <p:nvPr/>
        </p:nvSpPr>
        <p:spPr>
          <a:xfrm>
            <a:off x="2563304" y="10735398"/>
            <a:ext cx="19257392" cy="1666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12000">
                <a:solidFill>
                  <a:srgbClr val="000000"/>
                </a:solidFill>
              </a:defRPr>
            </a:lvl1pPr>
          </a:lstStyle>
          <a:p>
            <a:pPr/>
            <a:r>
              <a:t>10Gbps = 1秒間に1億文字</a:t>
            </a:r>
          </a:p>
        </p:txBody>
      </p:sp>
      <p:sp>
        <p:nvSpPr>
          <p:cNvPr id="539" name="直交周波数分割多重化（OFDMA）…"/>
          <p:cNvSpPr txBox="1"/>
          <p:nvPr/>
        </p:nvSpPr>
        <p:spPr>
          <a:xfrm>
            <a:off x="4564697" y="4198833"/>
            <a:ext cx="15254606" cy="2682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直交周波数分割多重化（OFDMA）</a:t>
            </a:r>
          </a:p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または</a:t>
            </a:r>
          </a:p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単一キャリア周波数分割多重アクセス（SC-FDMA）</a:t>
            </a:r>
          </a:p>
        </p:txBody>
      </p:sp>
      <p:grpSp>
        <p:nvGrpSpPr>
          <p:cNvPr id="543" name="グループ"/>
          <p:cNvGrpSpPr/>
          <p:nvPr/>
        </p:nvGrpSpPr>
        <p:grpSpPr>
          <a:xfrm>
            <a:off x="6523729" y="7419369"/>
            <a:ext cx="11336542" cy="2326526"/>
            <a:chOff x="0" y="0"/>
            <a:chExt cx="11336540" cy="2326524"/>
          </a:xfrm>
        </p:grpSpPr>
        <p:pic>
          <p:nvPicPr>
            <p:cNvPr id="540" name="ペーストされたムービー.png" descr="ペーストされたムービー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3216674" cy="2326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1" name="ペーストされたムービー.png" descr="ペーストされたムービー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059934" y="0"/>
              <a:ext cx="3216674" cy="2326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2" name="ペーストされたムービー.png" descr="ペーストされたムービー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119867" y="0"/>
              <a:ext cx="3216674" cy="2326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OK2"/>
          <p:cNvSpPr txBox="1"/>
          <p:nvPr/>
        </p:nvSpPr>
        <p:spPr>
          <a:xfrm>
            <a:off x="3597175" y="6246812"/>
            <a:ext cx="17189650" cy="1222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8400">
                <a:solidFill>
                  <a:srgbClr val="000000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OK2</a:t>
            </a:r>
          </a:p>
        </p:txBody>
      </p:sp>
      <p:pic>
        <p:nvPicPr>
          <p:cNvPr id="546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355488" y="10940316"/>
            <a:ext cx="3008103" cy="2817449"/>
          </a:xfrm>
          <a:prstGeom prst="rect">
            <a:avLst/>
          </a:prstGeom>
          <a:ln w="12700">
            <a:miter lim="400000"/>
          </a:ln>
        </p:spPr>
      </p:pic>
      <p:sp>
        <p:nvSpPr>
          <p:cNvPr id="547" name="OK、エンターで…"/>
          <p:cNvSpPr/>
          <p:nvPr/>
        </p:nvSpPr>
        <p:spPr>
          <a:xfrm>
            <a:off x="11233546" y="5794902"/>
            <a:ext cx="9314317" cy="5051692"/>
          </a:xfrm>
          <a:prstGeom prst="wedgeEllipseCallout">
            <a:avLst>
              <a:gd name="adj1" fmla="val 31627"/>
              <a:gd name="adj2" fmla="val 64269"/>
            </a:avLst>
          </a:prstGeom>
          <a:solidFill>
            <a:srgbClr val="70BF41"/>
          </a:solidFill>
          <a:ln w="12700">
            <a:miter lim="400000"/>
          </a:ln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/>
          <a:p>
            <a:pPr defTabSz="821531">
              <a:defRPr sz="7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r>
              <a:t>OK、エンターで</a:t>
            </a:r>
          </a:p>
          <a:p>
            <a:pPr defTabSz="821531">
              <a:defRPr sz="7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r>
              <a:t>戻せるよ</a:t>
            </a:r>
          </a:p>
        </p:txBody>
      </p:sp>
      <p:sp>
        <p:nvSpPr>
          <p:cNvPr id="548" name="エラーをひょうじしない"/>
          <p:cNvSpPr txBox="1"/>
          <p:nvPr>
            <p:ph type="title"/>
          </p:nvPr>
        </p:nvSpPr>
        <p:spPr>
          <a:xfrm>
            <a:off x="3461370" y="3673078"/>
            <a:ext cx="10567542" cy="180333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l">
              <a:defRPr sz="7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エラーをひょうじしない</a:t>
            </a:r>
          </a:p>
        </p:txBody>
      </p:sp>
      <p:pic>
        <p:nvPicPr>
          <p:cNvPr id="549" name="pasted-image.png" descr="pasted-image.png"/>
          <p:cNvPicPr>
            <a:picLocks noChangeAspect="1"/>
          </p:cNvPicPr>
          <p:nvPr/>
        </p:nvPicPr>
        <p:blipFill>
          <a:blip r:embed="rId3">
            <a:extLst/>
          </a:blip>
          <a:srcRect l="0" t="0" r="1643" b="0"/>
          <a:stretch>
            <a:fillRect/>
          </a:stretch>
        </p:blipFill>
        <p:spPr>
          <a:xfrm>
            <a:off x="2945109" y="10059934"/>
            <a:ext cx="8642610" cy="363820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3" name="グループ"/>
          <p:cNvGrpSpPr/>
          <p:nvPr/>
        </p:nvGrpSpPr>
        <p:grpSpPr>
          <a:xfrm>
            <a:off x="7166671" y="6266640"/>
            <a:ext cx="966189" cy="1004126"/>
            <a:chOff x="0" y="0"/>
            <a:chExt cx="966187" cy="1004124"/>
          </a:xfrm>
        </p:grpSpPr>
        <p:sp>
          <p:nvSpPr>
            <p:cNvPr id="550" name="四角形"/>
            <p:cNvSpPr/>
            <p:nvPr/>
          </p:nvSpPr>
          <p:spPr>
            <a:xfrm>
              <a:off x="0" y="0"/>
              <a:ext cx="966188" cy="1004125"/>
            </a:xfrm>
            <a:prstGeom prst="rect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551" name="線"/>
            <p:cNvSpPr/>
            <p:nvPr/>
          </p:nvSpPr>
          <p:spPr>
            <a:xfrm flipH="1" flipV="1">
              <a:off x="137392" y="678087"/>
              <a:ext cx="597938" cy="1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552" name="線"/>
            <p:cNvSpPr/>
            <p:nvPr/>
          </p:nvSpPr>
          <p:spPr>
            <a:xfrm flipH="1">
              <a:off x="706557" y="272536"/>
              <a:ext cx="3159" cy="443800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27762" b="0"/>
          <a:stretch>
            <a:fillRect/>
          </a:stretch>
        </p:blipFill>
        <p:spPr>
          <a:xfrm>
            <a:off x="17892996" y="2601426"/>
            <a:ext cx="6494360" cy="7974801"/>
          </a:xfrm>
          <a:prstGeom prst="rect">
            <a:avLst/>
          </a:prstGeom>
          <a:ln w="12700">
            <a:miter lim="400000"/>
          </a:ln>
        </p:spPr>
      </p:pic>
      <p:sp>
        <p:nvSpPr>
          <p:cNvPr id="556" name="GND"/>
          <p:cNvSpPr txBox="1"/>
          <p:nvPr/>
        </p:nvSpPr>
        <p:spPr>
          <a:xfrm>
            <a:off x="6771448" y="5697788"/>
            <a:ext cx="166433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GND</a:t>
            </a:r>
          </a:p>
        </p:txBody>
      </p:sp>
      <p:sp>
        <p:nvSpPr>
          <p:cNvPr id="557" name="ジャンパーせんをつなぎかえよう IN1-&gt;RXD"/>
          <p:cNvSpPr txBox="1"/>
          <p:nvPr/>
        </p:nvSpPr>
        <p:spPr>
          <a:xfrm>
            <a:off x="2760154" y="107748"/>
            <a:ext cx="1886369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ジャンパーせんをつなぎかえよう IN1-&gt;RXD</a:t>
            </a:r>
          </a:p>
        </p:txBody>
      </p:sp>
      <p:sp>
        <p:nvSpPr>
          <p:cNvPr id="558" name="線"/>
          <p:cNvSpPr/>
          <p:nvPr/>
        </p:nvSpPr>
        <p:spPr>
          <a:xfrm>
            <a:off x="16860147" y="10085824"/>
            <a:ext cx="898191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559" name="四角形"/>
          <p:cNvSpPr/>
          <p:nvPr/>
        </p:nvSpPr>
        <p:spPr>
          <a:xfrm>
            <a:off x="16185103" y="9828699"/>
            <a:ext cx="634102" cy="4581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grpSp>
        <p:nvGrpSpPr>
          <p:cNvPr id="562" name="グループ"/>
          <p:cNvGrpSpPr/>
          <p:nvPr/>
        </p:nvGrpSpPr>
        <p:grpSpPr>
          <a:xfrm rot="10878162">
            <a:off x="6815872" y="4262837"/>
            <a:ext cx="1529966" cy="458113"/>
            <a:chOff x="0" y="0"/>
            <a:chExt cx="1529965" cy="458111"/>
          </a:xfrm>
        </p:grpSpPr>
        <p:sp>
          <p:nvSpPr>
            <p:cNvPr id="560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1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588" name="接続の線"/>
          <p:cNvSpPr/>
          <p:nvPr/>
        </p:nvSpPr>
        <p:spPr>
          <a:xfrm>
            <a:off x="8265015" y="6717895"/>
            <a:ext cx="7737344" cy="122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fill="norm" stroke="1" extrusionOk="0">
                <a:moveTo>
                  <a:pt x="0" y="15776"/>
                </a:moveTo>
                <a:cubicBezTo>
                  <a:pt x="4690" y="-5399"/>
                  <a:pt x="11890" y="-5257"/>
                  <a:pt x="21600" y="16201"/>
                </a:cubicBezTo>
              </a:path>
            </a:pathLst>
          </a:custGeom>
          <a:ln w="1016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64" name="線"/>
          <p:cNvSpPr/>
          <p:nvPr/>
        </p:nvSpPr>
        <p:spPr>
          <a:xfrm>
            <a:off x="16522625" y="6855627"/>
            <a:ext cx="898191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567" name="グループ"/>
          <p:cNvGrpSpPr/>
          <p:nvPr/>
        </p:nvGrpSpPr>
        <p:grpSpPr>
          <a:xfrm rot="19655909">
            <a:off x="6897072" y="6407395"/>
            <a:ext cx="1413091" cy="1015867"/>
            <a:chOff x="0" y="0"/>
            <a:chExt cx="1413090" cy="1015865"/>
          </a:xfrm>
        </p:grpSpPr>
        <p:sp>
          <p:nvSpPr>
            <p:cNvPr id="565" name="四角形"/>
            <p:cNvSpPr/>
            <p:nvPr/>
          </p:nvSpPr>
          <p:spPr>
            <a:xfrm rot="12751864">
              <a:off x="705558" y="423197"/>
              <a:ext cx="634102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6" name="線"/>
            <p:cNvSpPr/>
            <p:nvPr/>
          </p:nvSpPr>
          <p:spPr>
            <a:xfrm flipH="1" flipV="1">
              <a:off x="0" y="0"/>
              <a:ext cx="757264" cy="483008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568" name="GND"/>
          <p:cNvSpPr txBox="1"/>
          <p:nvPr/>
        </p:nvSpPr>
        <p:spPr>
          <a:xfrm>
            <a:off x="15653933" y="5697788"/>
            <a:ext cx="166433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GND</a:t>
            </a:r>
          </a:p>
        </p:txBody>
      </p:sp>
      <p:sp>
        <p:nvSpPr>
          <p:cNvPr id="569" name="四角形"/>
          <p:cNvSpPr/>
          <p:nvPr/>
        </p:nvSpPr>
        <p:spPr>
          <a:xfrm>
            <a:off x="16002362" y="6626571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570" name="IN1-&gt;RXD"/>
          <p:cNvSpPr txBox="1"/>
          <p:nvPr/>
        </p:nvSpPr>
        <p:spPr>
          <a:xfrm>
            <a:off x="6779726" y="3234159"/>
            <a:ext cx="359029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IN1-&gt;RXD</a:t>
            </a:r>
          </a:p>
        </p:txBody>
      </p:sp>
      <p:sp>
        <p:nvSpPr>
          <p:cNvPr id="589" name="接続の線"/>
          <p:cNvSpPr/>
          <p:nvPr/>
        </p:nvSpPr>
        <p:spPr>
          <a:xfrm>
            <a:off x="11896921" y="6277787"/>
            <a:ext cx="4288137" cy="3807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58" fill="norm" stroke="1" extrusionOk="0">
                <a:moveTo>
                  <a:pt x="0" y="0"/>
                </a:moveTo>
                <a:cubicBezTo>
                  <a:pt x="182" y="14629"/>
                  <a:pt x="7382" y="21600"/>
                  <a:pt x="21600" y="20912"/>
                </a:cubicBezTo>
              </a:path>
            </a:pathLst>
          </a:custGeom>
          <a:ln w="101600">
            <a:solidFill>
              <a:srgbClr val="A6AAA9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90" name="接続の線"/>
          <p:cNvSpPr/>
          <p:nvPr/>
        </p:nvSpPr>
        <p:spPr>
          <a:xfrm>
            <a:off x="8308600" y="4432415"/>
            <a:ext cx="3576500" cy="18783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07" fill="norm" stroke="1" extrusionOk="0">
                <a:moveTo>
                  <a:pt x="21600" y="19807"/>
                </a:moveTo>
                <a:cubicBezTo>
                  <a:pt x="20147" y="4667"/>
                  <a:pt x="12947" y="-1793"/>
                  <a:pt x="0" y="426"/>
                </a:cubicBezTo>
              </a:path>
            </a:pathLst>
          </a:custGeom>
          <a:ln w="101600">
            <a:solidFill>
              <a:srgbClr val="A6AAA9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73" name="IchigoJam A"/>
          <p:cNvSpPr txBox="1"/>
          <p:nvPr/>
        </p:nvSpPr>
        <p:spPr>
          <a:xfrm>
            <a:off x="3248900" y="1643108"/>
            <a:ext cx="483997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IchigoJam A</a:t>
            </a:r>
          </a:p>
        </p:txBody>
      </p:sp>
      <p:sp>
        <p:nvSpPr>
          <p:cNvPr id="574" name="IchigoJam B"/>
          <p:cNvSpPr txBox="1"/>
          <p:nvPr/>
        </p:nvSpPr>
        <p:spPr>
          <a:xfrm>
            <a:off x="16327983" y="1559616"/>
            <a:ext cx="476694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IchigoJam B</a:t>
            </a:r>
          </a:p>
        </p:txBody>
      </p:sp>
      <p:sp>
        <p:nvSpPr>
          <p:cNvPr id="575" name="線"/>
          <p:cNvSpPr/>
          <p:nvPr/>
        </p:nvSpPr>
        <p:spPr>
          <a:xfrm>
            <a:off x="16813372" y="4362479"/>
            <a:ext cx="898190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576" name="四角形"/>
          <p:cNvSpPr/>
          <p:nvPr/>
        </p:nvSpPr>
        <p:spPr>
          <a:xfrm>
            <a:off x="16501405" y="4187853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grpSp>
        <p:nvGrpSpPr>
          <p:cNvPr id="579" name="グループ"/>
          <p:cNvGrpSpPr/>
          <p:nvPr/>
        </p:nvGrpSpPr>
        <p:grpSpPr>
          <a:xfrm rot="10878162">
            <a:off x="6815872" y="9828699"/>
            <a:ext cx="1529966" cy="458112"/>
            <a:chOff x="0" y="0"/>
            <a:chExt cx="1529965" cy="458111"/>
          </a:xfrm>
        </p:grpSpPr>
        <p:sp>
          <p:nvSpPr>
            <p:cNvPr id="577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78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591" name="接続の線"/>
          <p:cNvSpPr/>
          <p:nvPr/>
        </p:nvSpPr>
        <p:spPr>
          <a:xfrm>
            <a:off x="12002206" y="4392108"/>
            <a:ext cx="4499169" cy="7369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93" fill="norm" stroke="1" extrusionOk="0">
                <a:moveTo>
                  <a:pt x="0" y="19893"/>
                </a:moveTo>
                <a:cubicBezTo>
                  <a:pt x="1840" y="4797"/>
                  <a:pt x="9040" y="-1707"/>
                  <a:pt x="21600" y="380"/>
                </a:cubicBezTo>
              </a:path>
            </a:pathLst>
          </a:custGeom>
          <a:ln w="101600">
            <a:solidFill>
              <a:srgbClr val="DE6A1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92" name="接続の線"/>
          <p:cNvSpPr/>
          <p:nvPr/>
        </p:nvSpPr>
        <p:spPr>
          <a:xfrm>
            <a:off x="8343212" y="5124389"/>
            <a:ext cx="3641763" cy="50575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4076" y="13747"/>
                  <a:pt x="6876" y="20947"/>
                  <a:pt x="0" y="21600"/>
                </a:cubicBezTo>
              </a:path>
            </a:pathLst>
          </a:custGeom>
          <a:ln w="101600">
            <a:solidFill>
              <a:srgbClr val="DE6A1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82" name="LED"/>
          <p:cNvSpPr txBox="1"/>
          <p:nvPr/>
        </p:nvSpPr>
        <p:spPr>
          <a:xfrm>
            <a:off x="6825424" y="10715671"/>
            <a:ext cx="155638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LED</a:t>
            </a:r>
          </a:p>
        </p:txBody>
      </p:sp>
      <p:pic>
        <p:nvPicPr>
          <p:cNvPr id="583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68983" b="0"/>
          <a:stretch>
            <a:fillRect/>
          </a:stretch>
        </p:blipFill>
        <p:spPr>
          <a:xfrm>
            <a:off x="3284027" y="2780019"/>
            <a:ext cx="2788448" cy="7974801"/>
          </a:xfrm>
          <a:prstGeom prst="rect">
            <a:avLst/>
          </a:prstGeom>
          <a:ln w="12700">
            <a:miter lim="400000"/>
          </a:ln>
        </p:spPr>
      </p:pic>
      <p:sp>
        <p:nvSpPr>
          <p:cNvPr id="584" name="CN4…"/>
          <p:cNvSpPr txBox="1"/>
          <p:nvPr/>
        </p:nvSpPr>
        <p:spPr>
          <a:xfrm>
            <a:off x="3480564" y="11127546"/>
            <a:ext cx="2395221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CN4</a:t>
            </a:r>
          </a:p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-&gt;CN3</a:t>
            </a:r>
          </a:p>
        </p:txBody>
      </p:sp>
      <p:sp>
        <p:nvSpPr>
          <p:cNvPr id="585" name="LED"/>
          <p:cNvSpPr txBox="1"/>
          <p:nvPr/>
        </p:nvSpPr>
        <p:spPr>
          <a:xfrm>
            <a:off x="15541220" y="10715671"/>
            <a:ext cx="155638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LED</a:t>
            </a:r>
          </a:p>
        </p:txBody>
      </p:sp>
      <p:sp>
        <p:nvSpPr>
          <p:cNvPr id="586" name="IN1-&gt;RXD"/>
          <p:cNvSpPr txBox="1"/>
          <p:nvPr/>
        </p:nvSpPr>
        <p:spPr>
          <a:xfrm>
            <a:off x="13942024" y="3028776"/>
            <a:ext cx="359029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IN1-&gt;RXD</a:t>
            </a:r>
          </a:p>
        </p:txBody>
      </p:sp>
      <p:sp>
        <p:nvSpPr>
          <p:cNvPr id="587" name="CN4…"/>
          <p:cNvSpPr txBox="1"/>
          <p:nvPr/>
        </p:nvSpPr>
        <p:spPr>
          <a:xfrm>
            <a:off x="18171168" y="10846084"/>
            <a:ext cx="2395221" cy="1730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CN4</a:t>
            </a:r>
          </a:p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-&gt;CN3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27762" b="0"/>
          <a:stretch>
            <a:fillRect/>
          </a:stretch>
        </p:blipFill>
        <p:spPr>
          <a:xfrm>
            <a:off x="17892996" y="2601426"/>
            <a:ext cx="6494360" cy="7974801"/>
          </a:xfrm>
          <a:prstGeom prst="rect">
            <a:avLst/>
          </a:prstGeom>
          <a:ln w="12700">
            <a:miter lim="400000"/>
          </a:ln>
        </p:spPr>
      </p:pic>
      <p:sp>
        <p:nvSpPr>
          <p:cNvPr id="595" name="GND"/>
          <p:cNvSpPr txBox="1"/>
          <p:nvPr/>
        </p:nvSpPr>
        <p:spPr>
          <a:xfrm>
            <a:off x="6771448" y="5697788"/>
            <a:ext cx="166433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GND</a:t>
            </a:r>
          </a:p>
        </p:txBody>
      </p:sp>
      <p:sp>
        <p:nvSpPr>
          <p:cNvPr id="596" name="ジャンパーせんをつなぎかえよう LED-&gt;TXD"/>
          <p:cNvSpPr txBox="1"/>
          <p:nvPr/>
        </p:nvSpPr>
        <p:spPr>
          <a:xfrm>
            <a:off x="2618803" y="107748"/>
            <a:ext cx="19146394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ジャンパーせんをつなぎかえよう LED-&gt;TXD</a:t>
            </a:r>
          </a:p>
        </p:txBody>
      </p:sp>
      <p:sp>
        <p:nvSpPr>
          <p:cNvPr id="597" name="線"/>
          <p:cNvSpPr/>
          <p:nvPr/>
        </p:nvSpPr>
        <p:spPr>
          <a:xfrm>
            <a:off x="16860147" y="10085824"/>
            <a:ext cx="898191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598" name="四角形"/>
          <p:cNvSpPr/>
          <p:nvPr/>
        </p:nvSpPr>
        <p:spPr>
          <a:xfrm>
            <a:off x="16185103" y="9828699"/>
            <a:ext cx="634102" cy="4581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grpSp>
        <p:nvGrpSpPr>
          <p:cNvPr id="601" name="グループ"/>
          <p:cNvGrpSpPr/>
          <p:nvPr/>
        </p:nvGrpSpPr>
        <p:grpSpPr>
          <a:xfrm rot="10878162">
            <a:off x="6815872" y="4262837"/>
            <a:ext cx="1529966" cy="458113"/>
            <a:chOff x="0" y="0"/>
            <a:chExt cx="1529965" cy="458111"/>
          </a:xfrm>
        </p:grpSpPr>
        <p:sp>
          <p:nvSpPr>
            <p:cNvPr id="599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00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627" name="接続の線"/>
          <p:cNvSpPr/>
          <p:nvPr/>
        </p:nvSpPr>
        <p:spPr>
          <a:xfrm>
            <a:off x="8265015" y="6717895"/>
            <a:ext cx="7737344" cy="122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fill="norm" stroke="1" extrusionOk="0">
                <a:moveTo>
                  <a:pt x="0" y="15776"/>
                </a:moveTo>
                <a:cubicBezTo>
                  <a:pt x="4690" y="-5399"/>
                  <a:pt x="11890" y="-5257"/>
                  <a:pt x="21600" y="16201"/>
                </a:cubicBezTo>
              </a:path>
            </a:pathLst>
          </a:custGeom>
          <a:ln w="1016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603" name="線"/>
          <p:cNvSpPr/>
          <p:nvPr/>
        </p:nvSpPr>
        <p:spPr>
          <a:xfrm>
            <a:off x="16522625" y="6855627"/>
            <a:ext cx="898191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606" name="グループ"/>
          <p:cNvGrpSpPr/>
          <p:nvPr/>
        </p:nvGrpSpPr>
        <p:grpSpPr>
          <a:xfrm rot="19655909">
            <a:off x="6897072" y="6407395"/>
            <a:ext cx="1413091" cy="1015867"/>
            <a:chOff x="0" y="0"/>
            <a:chExt cx="1413090" cy="1015865"/>
          </a:xfrm>
        </p:grpSpPr>
        <p:sp>
          <p:nvSpPr>
            <p:cNvPr id="604" name="四角形"/>
            <p:cNvSpPr/>
            <p:nvPr/>
          </p:nvSpPr>
          <p:spPr>
            <a:xfrm rot="12751864">
              <a:off x="705558" y="423197"/>
              <a:ext cx="634102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05" name="線"/>
            <p:cNvSpPr/>
            <p:nvPr/>
          </p:nvSpPr>
          <p:spPr>
            <a:xfrm flipH="1" flipV="1">
              <a:off x="0" y="0"/>
              <a:ext cx="757264" cy="483008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607" name="GND"/>
          <p:cNvSpPr txBox="1"/>
          <p:nvPr/>
        </p:nvSpPr>
        <p:spPr>
          <a:xfrm>
            <a:off x="15653933" y="5697788"/>
            <a:ext cx="166433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GND</a:t>
            </a:r>
          </a:p>
        </p:txBody>
      </p:sp>
      <p:sp>
        <p:nvSpPr>
          <p:cNvPr id="608" name="四角形"/>
          <p:cNvSpPr/>
          <p:nvPr/>
        </p:nvSpPr>
        <p:spPr>
          <a:xfrm>
            <a:off x="16002362" y="6626571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609" name="IN1-&gt;RXD"/>
          <p:cNvSpPr txBox="1"/>
          <p:nvPr/>
        </p:nvSpPr>
        <p:spPr>
          <a:xfrm>
            <a:off x="6779726" y="3234159"/>
            <a:ext cx="359029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IN1-&gt;RXD</a:t>
            </a:r>
          </a:p>
        </p:txBody>
      </p:sp>
      <p:sp>
        <p:nvSpPr>
          <p:cNvPr id="628" name="接続の線"/>
          <p:cNvSpPr/>
          <p:nvPr/>
        </p:nvSpPr>
        <p:spPr>
          <a:xfrm>
            <a:off x="11896921" y="6277787"/>
            <a:ext cx="4288137" cy="3807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58" fill="norm" stroke="1" extrusionOk="0">
                <a:moveTo>
                  <a:pt x="0" y="0"/>
                </a:moveTo>
                <a:cubicBezTo>
                  <a:pt x="182" y="14629"/>
                  <a:pt x="7382" y="21600"/>
                  <a:pt x="21600" y="20912"/>
                </a:cubicBezTo>
              </a:path>
            </a:pathLst>
          </a:custGeom>
          <a:ln w="101600">
            <a:solidFill>
              <a:srgbClr val="A6AAA9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629" name="接続の線"/>
          <p:cNvSpPr/>
          <p:nvPr/>
        </p:nvSpPr>
        <p:spPr>
          <a:xfrm>
            <a:off x="8308600" y="4432415"/>
            <a:ext cx="3576500" cy="18783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07" fill="norm" stroke="1" extrusionOk="0">
                <a:moveTo>
                  <a:pt x="21600" y="19807"/>
                </a:moveTo>
                <a:cubicBezTo>
                  <a:pt x="20147" y="4667"/>
                  <a:pt x="12947" y="-1793"/>
                  <a:pt x="0" y="426"/>
                </a:cubicBezTo>
              </a:path>
            </a:pathLst>
          </a:custGeom>
          <a:ln w="101600">
            <a:solidFill>
              <a:srgbClr val="A6AAA9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612" name="IchigoJam A"/>
          <p:cNvSpPr txBox="1"/>
          <p:nvPr/>
        </p:nvSpPr>
        <p:spPr>
          <a:xfrm>
            <a:off x="3248900" y="1643108"/>
            <a:ext cx="483997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IchigoJam A</a:t>
            </a:r>
          </a:p>
        </p:txBody>
      </p:sp>
      <p:sp>
        <p:nvSpPr>
          <p:cNvPr id="613" name="IchigoJam B"/>
          <p:cNvSpPr txBox="1"/>
          <p:nvPr/>
        </p:nvSpPr>
        <p:spPr>
          <a:xfrm>
            <a:off x="16327983" y="1559616"/>
            <a:ext cx="476694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IchigoJam B</a:t>
            </a:r>
          </a:p>
        </p:txBody>
      </p:sp>
      <p:sp>
        <p:nvSpPr>
          <p:cNvPr id="614" name="線"/>
          <p:cNvSpPr/>
          <p:nvPr/>
        </p:nvSpPr>
        <p:spPr>
          <a:xfrm>
            <a:off x="16813372" y="4362479"/>
            <a:ext cx="898190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615" name="四角形"/>
          <p:cNvSpPr/>
          <p:nvPr/>
        </p:nvSpPr>
        <p:spPr>
          <a:xfrm>
            <a:off x="16501405" y="4187853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grpSp>
        <p:nvGrpSpPr>
          <p:cNvPr id="618" name="グループ"/>
          <p:cNvGrpSpPr/>
          <p:nvPr/>
        </p:nvGrpSpPr>
        <p:grpSpPr>
          <a:xfrm rot="10878162">
            <a:off x="6815872" y="9828699"/>
            <a:ext cx="1529966" cy="458112"/>
            <a:chOff x="0" y="0"/>
            <a:chExt cx="1529965" cy="458111"/>
          </a:xfrm>
        </p:grpSpPr>
        <p:sp>
          <p:nvSpPr>
            <p:cNvPr id="616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17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630" name="接続の線"/>
          <p:cNvSpPr/>
          <p:nvPr/>
        </p:nvSpPr>
        <p:spPr>
          <a:xfrm>
            <a:off x="12002206" y="4392108"/>
            <a:ext cx="4499169" cy="7369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93" fill="norm" stroke="1" extrusionOk="0">
                <a:moveTo>
                  <a:pt x="0" y="19893"/>
                </a:moveTo>
                <a:cubicBezTo>
                  <a:pt x="1840" y="4797"/>
                  <a:pt x="9040" y="-1707"/>
                  <a:pt x="21600" y="380"/>
                </a:cubicBezTo>
              </a:path>
            </a:pathLst>
          </a:custGeom>
          <a:ln w="101600">
            <a:solidFill>
              <a:srgbClr val="DE6A1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631" name="接続の線"/>
          <p:cNvSpPr/>
          <p:nvPr/>
        </p:nvSpPr>
        <p:spPr>
          <a:xfrm>
            <a:off x="8343212" y="5124389"/>
            <a:ext cx="3641763" cy="50575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4076" y="13747"/>
                  <a:pt x="6876" y="20947"/>
                  <a:pt x="0" y="21600"/>
                </a:cubicBezTo>
              </a:path>
            </a:pathLst>
          </a:custGeom>
          <a:ln w="101600">
            <a:solidFill>
              <a:srgbClr val="DE6A1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621" name="LED-&gt;TXD"/>
          <p:cNvSpPr txBox="1"/>
          <p:nvPr/>
        </p:nvSpPr>
        <p:spPr>
          <a:xfrm>
            <a:off x="6678761" y="10715671"/>
            <a:ext cx="379222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lumOff val="-29866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LED-&gt;TXD</a:t>
            </a:r>
          </a:p>
        </p:txBody>
      </p:sp>
      <p:pic>
        <p:nvPicPr>
          <p:cNvPr id="622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68983" b="0"/>
          <a:stretch>
            <a:fillRect/>
          </a:stretch>
        </p:blipFill>
        <p:spPr>
          <a:xfrm>
            <a:off x="3284027" y="2780019"/>
            <a:ext cx="2788448" cy="7974801"/>
          </a:xfrm>
          <a:prstGeom prst="rect">
            <a:avLst/>
          </a:prstGeom>
          <a:ln w="12700">
            <a:miter lim="400000"/>
          </a:ln>
        </p:spPr>
      </p:pic>
      <p:sp>
        <p:nvSpPr>
          <p:cNvPr id="623" name="CN4…"/>
          <p:cNvSpPr txBox="1"/>
          <p:nvPr/>
        </p:nvSpPr>
        <p:spPr>
          <a:xfrm>
            <a:off x="3480564" y="11127546"/>
            <a:ext cx="2395221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CN4</a:t>
            </a:r>
          </a:p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-&gt;CN3</a:t>
            </a:r>
          </a:p>
        </p:txBody>
      </p:sp>
      <p:sp>
        <p:nvSpPr>
          <p:cNvPr id="624" name="LED-&gt;TXD"/>
          <p:cNvSpPr txBox="1"/>
          <p:nvPr/>
        </p:nvSpPr>
        <p:spPr>
          <a:xfrm>
            <a:off x="13616811" y="10715671"/>
            <a:ext cx="379222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lumOff val="-29866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LED-&gt;TXD</a:t>
            </a:r>
          </a:p>
        </p:txBody>
      </p:sp>
      <p:sp>
        <p:nvSpPr>
          <p:cNvPr id="625" name="IN1-&gt;RXD"/>
          <p:cNvSpPr txBox="1"/>
          <p:nvPr/>
        </p:nvSpPr>
        <p:spPr>
          <a:xfrm>
            <a:off x="13942024" y="3028776"/>
            <a:ext cx="359029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IN1-&gt;RXD</a:t>
            </a:r>
          </a:p>
        </p:txBody>
      </p:sp>
      <p:sp>
        <p:nvSpPr>
          <p:cNvPr id="626" name="CN4…"/>
          <p:cNvSpPr txBox="1"/>
          <p:nvPr/>
        </p:nvSpPr>
        <p:spPr>
          <a:xfrm>
            <a:off x="18171168" y="10846084"/>
            <a:ext cx="2395221" cy="1730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CN4</a:t>
            </a:r>
          </a:p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-&gt;CN3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?”HI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?”HI</a:t>
            </a:r>
          </a:p>
        </p:txBody>
      </p:sp>
      <p:sp>
        <p:nvSpPr>
          <p:cNvPr id="634" name="Aさん、おく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?”LED1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?”LED1</a:t>
            </a:r>
          </a:p>
        </p:txBody>
      </p:sp>
      <p:sp>
        <p:nvSpPr>
          <p:cNvPr id="637" name="Bさん、おく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?”VIDEO2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?”VIDEO2</a:t>
            </a:r>
          </a:p>
        </p:txBody>
      </p:sp>
      <p:sp>
        <p:nvSpPr>
          <p:cNvPr id="640" name="Aさん、おく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?”LOAD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?”LOAD</a:t>
            </a:r>
          </a:p>
        </p:txBody>
      </p:sp>
      <p:sp>
        <p:nvSpPr>
          <p:cNvPr id="643" name="Bさん、おく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?”LIST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?”LIST</a:t>
            </a:r>
          </a:p>
        </p:txBody>
      </p:sp>
      <p:sp>
        <p:nvSpPr>
          <p:cNvPr id="646" name="Bさん、おく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?”NEW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?”NEW</a:t>
            </a:r>
          </a:p>
        </p:txBody>
      </p:sp>
      <p:sp>
        <p:nvSpPr>
          <p:cNvPr id="649" name="Aさん、おく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NEWとかSAVEとか送ると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NEWとかSAVEとか送ると</a:t>
            </a:r>
          </a:p>
          <a:p>
            <a:pPr algn="ctr"/>
            <a:r>
              <a:t>どうなる？？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UART1,0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UART1,0</a:t>
            </a:r>
          </a:p>
        </p:txBody>
      </p:sp>
      <p:sp>
        <p:nvSpPr>
          <p:cNvPr id="654" name="Bさん、まも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Bさん、まもってみよう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?”LED1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?”LED1</a:t>
            </a:r>
          </a:p>
        </p:txBody>
      </p:sp>
      <p:sp>
        <p:nvSpPr>
          <p:cNvPr id="657" name="Aさん、おく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UART1,1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UART1,1</a:t>
            </a:r>
          </a:p>
        </p:txBody>
      </p:sp>
      <p:sp>
        <p:nvSpPr>
          <p:cNvPr id="660" name="Bさん、まもりをかいじょ"/>
          <p:cNvSpPr txBox="1"/>
          <p:nvPr/>
        </p:nvSpPr>
        <p:spPr>
          <a:xfrm>
            <a:off x="6916229" y="1267270"/>
            <a:ext cx="10551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Bさん、まもりをかいじょ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?”LED1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?”LED1</a:t>
            </a:r>
          </a:p>
        </p:txBody>
      </p:sp>
      <p:sp>
        <p:nvSpPr>
          <p:cNvPr id="663" name="Aさん、おく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UART1,0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UART1,0</a:t>
            </a:r>
          </a:p>
        </p:txBody>
      </p:sp>
      <p:sp>
        <p:nvSpPr>
          <p:cNvPr id="666" name="Aさん、まも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Aさん、まもってみよう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?”LED1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?”LED1</a:t>
            </a:r>
          </a:p>
        </p:txBody>
      </p:sp>
      <p:sp>
        <p:nvSpPr>
          <p:cNvPr id="669" name="Bさん、おく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UART1,1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UART1,1</a:t>
            </a:r>
          </a:p>
        </p:txBody>
      </p:sp>
      <p:sp>
        <p:nvSpPr>
          <p:cNvPr id="672" name="Aさん、まもりをかいじょ"/>
          <p:cNvSpPr txBox="1"/>
          <p:nvPr/>
        </p:nvSpPr>
        <p:spPr>
          <a:xfrm>
            <a:off x="6865112" y="1267270"/>
            <a:ext cx="10653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Aさん、まもりをかいじょ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?”LED1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?”LED1</a:t>
            </a:r>
          </a:p>
        </p:txBody>
      </p:sp>
      <p:sp>
        <p:nvSpPr>
          <p:cNvPr id="675" name="Bさん、おく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UART1,0"/>
          <p:cNvSpPr txBox="1"/>
          <p:nvPr/>
        </p:nvSpPr>
        <p:spPr>
          <a:xfrm>
            <a:off x="4117610" y="6222146"/>
            <a:ext cx="16177851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UART1,0</a:t>
            </a:r>
          </a:p>
        </p:txBody>
      </p:sp>
      <p:sp>
        <p:nvSpPr>
          <p:cNvPr id="678" name="UART1,1"/>
          <p:cNvSpPr txBox="1"/>
          <p:nvPr/>
        </p:nvSpPr>
        <p:spPr>
          <a:xfrm>
            <a:off x="4117610" y="11366219"/>
            <a:ext cx="16177851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UART1,1</a:t>
            </a:r>
          </a:p>
        </p:txBody>
      </p:sp>
      <p:sp>
        <p:nvSpPr>
          <p:cNvPr id="679" name="受信、拒否"/>
          <p:cNvSpPr txBox="1"/>
          <p:nvPr/>
        </p:nvSpPr>
        <p:spPr>
          <a:xfrm>
            <a:off x="4011745" y="4131624"/>
            <a:ext cx="4600576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</a:defRPr>
            </a:lvl1pPr>
          </a:lstStyle>
          <a:p>
            <a:pPr/>
            <a:r>
              <a:t>受信、拒否</a:t>
            </a:r>
          </a:p>
        </p:txBody>
      </p:sp>
      <p:sp>
        <p:nvSpPr>
          <p:cNvPr id="680" name="受信、許可"/>
          <p:cNvSpPr txBox="1"/>
          <p:nvPr/>
        </p:nvSpPr>
        <p:spPr>
          <a:xfrm>
            <a:off x="4011745" y="9432409"/>
            <a:ext cx="4600576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</a:defRPr>
            </a:lvl1pPr>
          </a:lstStyle>
          <a:p>
            <a:pPr/>
            <a:r>
              <a:t>受信、許可</a:t>
            </a:r>
          </a:p>
        </p:txBody>
      </p:sp>
      <p:sp>
        <p:nvSpPr>
          <p:cNvPr id="681" name="サイバーセキュリティ、守り方基本"/>
          <p:cNvSpPr txBox="1"/>
          <p:nvPr/>
        </p:nvSpPr>
        <p:spPr>
          <a:xfrm>
            <a:off x="5118983" y="818365"/>
            <a:ext cx="14175106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</a:defRPr>
            </a:lvl1pPr>
          </a:lstStyle>
          <a:p>
            <a:pPr/>
            <a:r>
              <a:t>サイバーセキュリティ、守り方基本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便利か怖いかは人間次第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便利か怖いかは人間次第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インターネット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インターネット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ネットワークとは…"/>
          <p:cNvSpPr txBox="1"/>
          <p:nvPr>
            <p:ph type="title"/>
          </p:nvPr>
        </p:nvSpPr>
        <p:spPr>
          <a:xfrm>
            <a:off x="3233988" y="870690"/>
            <a:ext cx="17916024" cy="6831119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ネットワークとは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コンピューターが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つながったもの</a:t>
            </a:r>
          </a:p>
        </p:txBody>
      </p:sp>
      <p:pic>
        <p:nvPicPr>
          <p:cNvPr id="688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36749" y="9841508"/>
            <a:ext cx="3747903" cy="3510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89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81781" y="9274969"/>
            <a:ext cx="3750470" cy="350043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0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775000" y="8620125"/>
            <a:ext cx="3750470" cy="3500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91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596781" y="7965281"/>
            <a:ext cx="3750470" cy="3500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インターネットは…"/>
          <p:cNvSpPr txBox="1"/>
          <p:nvPr>
            <p:ph type="title"/>
          </p:nvPr>
        </p:nvSpPr>
        <p:spPr>
          <a:xfrm>
            <a:off x="3233988" y="870690"/>
            <a:ext cx="17916024" cy="6831119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インターネットは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ネットワークが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たくさんつながったもの</a:t>
            </a:r>
          </a:p>
        </p:txBody>
      </p:sp>
      <p:sp>
        <p:nvSpPr>
          <p:cNvPr id="694" name="合計100おく台くらい"/>
          <p:cNvSpPr txBox="1"/>
          <p:nvPr/>
        </p:nvSpPr>
        <p:spPr>
          <a:xfrm>
            <a:off x="10025760" y="12306644"/>
            <a:ext cx="11588596" cy="13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21531">
              <a:defRPr sz="56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合計100おく台くらい</a:t>
            </a:r>
          </a:p>
        </p:txBody>
      </p:sp>
      <p:pic>
        <p:nvPicPr>
          <p:cNvPr id="695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85242" y="8783844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6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45735" y="7697478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7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4525724" y="9774201"/>
            <a:ext cx="6413516" cy="280438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8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632368" y="8431160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9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24749" y="10010214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0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-4237463" y="7274792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1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915084" y="11400840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2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885567" y="6434769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3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45886" y="9774201"/>
            <a:ext cx="6413517" cy="280438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4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20322878" y="11400840"/>
            <a:ext cx="6413517" cy="28043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手紙のバケツリレー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手紙のバケツリレー</a:t>
            </a:r>
          </a:p>
          <a:p>
            <a:pPr algn="ctr"/>
            <a:r>
              <a:t>怖くない？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暗号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暗号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68856" y="262659"/>
            <a:ext cx="9887395" cy="13190682"/>
          </a:xfrm>
          <a:prstGeom prst="rect">
            <a:avLst/>
          </a:prstGeom>
          <a:ln w="12700">
            <a:miter lim="400000"/>
          </a:ln>
        </p:spPr>
      </p:pic>
      <p:sp>
        <p:nvSpPr>
          <p:cNvPr id="711" name="エニグマ (Enigma)…"/>
          <p:cNvSpPr txBox="1"/>
          <p:nvPr/>
        </p:nvSpPr>
        <p:spPr>
          <a:xfrm>
            <a:off x="506997" y="3312147"/>
            <a:ext cx="13285750" cy="657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6000"/>
            </a:pPr>
            <a:r>
              <a:t>エニグマ (Enigma) </a:t>
            </a:r>
          </a:p>
          <a:p>
            <a:pPr algn="l">
              <a:defRPr sz="6000"/>
            </a:pPr>
            <a:r>
              <a:t>第二次世界大戦でナチス・ドイツが</a:t>
            </a:r>
          </a:p>
          <a:p>
            <a:pPr algn="l">
              <a:defRPr sz="6000"/>
            </a:pPr>
            <a:r>
              <a:t>用いたローター式暗号機</a:t>
            </a:r>
          </a:p>
          <a:p>
            <a:pPr algn="l">
              <a:defRPr sz="6000"/>
            </a:pPr>
          </a:p>
          <a:p>
            <a:pPr algn="l">
              <a:defRPr sz="6000"/>
            </a:pPr>
            <a:r>
              <a:t>名称はギリシア語「謎」に由来</a:t>
            </a:r>
          </a:p>
          <a:p>
            <a:pPr algn="l">
              <a:defRPr sz="6000"/>
            </a:pPr>
            <a:r>
              <a:t>Wikipedia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共通鍵暗号"/>
          <p:cNvSpPr txBox="1"/>
          <p:nvPr/>
        </p:nvSpPr>
        <p:spPr>
          <a:xfrm>
            <a:off x="804653" y="663525"/>
            <a:ext cx="22774694" cy="225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defRPr spc="-159" sz="8000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共通鍵暗号</a:t>
            </a:r>
          </a:p>
        </p:txBody>
      </p:sp>
      <p:grpSp>
        <p:nvGrpSpPr>
          <p:cNvPr id="717" name="グループ"/>
          <p:cNvGrpSpPr/>
          <p:nvPr/>
        </p:nvGrpSpPr>
        <p:grpSpPr>
          <a:xfrm>
            <a:off x="5044079" y="5701878"/>
            <a:ext cx="538275" cy="1048022"/>
            <a:chOff x="0" y="0"/>
            <a:chExt cx="538273" cy="1048021"/>
          </a:xfrm>
        </p:grpSpPr>
        <p:sp>
          <p:nvSpPr>
            <p:cNvPr id="714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5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16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721" name="グループ"/>
          <p:cNvGrpSpPr/>
          <p:nvPr/>
        </p:nvGrpSpPr>
        <p:grpSpPr>
          <a:xfrm>
            <a:off x="12053323" y="9068006"/>
            <a:ext cx="538275" cy="1048023"/>
            <a:chOff x="0" y="0"/>
            <a:chExt cx="538273" cy="1048021"/>
          </a:xfrm>
        </p:grpSpPr>
        <p:sp>
          <p:nvSpPr>
            <p:cNvPr id="718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9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20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724" name="グループ"/>
          <p:cNvGrpSpPr/>
          <p:nvPr/>
        </p:nvGrpSpPr>
        <p:grpSpPr>
          <a:xfrm>
            <a:off x="2991642" y="4350533"/>
            <a:ext cx="1438817" cy="1852304"/>
            <a:chOff x="0" y="0"/>
            <a:chExt cx="1438816" cy="1852302"/>
          </a:xfrm>
        </p:grpSpPr>
        <p:sp>
          <p:nvSpPr>
            <p:cNvPr id="722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blipFill rotWithShape="1">
              <a:blip r:embed="rId2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23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727" name="グループ"/>
          <p:cNvGrpSpPr/>
          <p:nvPr/>
        </p:nvGrpSpPr>
        <p:grpSpPr>
          <a:xfrm>
            <a:off x="19949235" y="4261970"/>
            <a:ext cx="1438817" cy="1852304"/>
            <a:chOff x="0" y="0"/>
            <a:chExt cx="1438816" cy="1852302"/>
          </a:xfrm>
        </p:grpSpPr>
        <p:sp>
          <p:nvSpPr>
            <p:cNvPr id="725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EC5D57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726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731" name="グループ"/>
          <p:cNvGrpSpPr/>
          <p:nvPr/>
        </p:nvGrpSpPr>
        <p:grpSpPr>
          <a:xfrm>
            <a:off x="18797339" y="5701878"/>
            <a:ext cx="538274" cy="1048022"/>
            <a:chOff x="0" y="0"/>
            <a:chExt cx="538273" cy="1048021"/>
          </a:xfrm>
        </p:grpSpPr>
        <p:sp>
          <p:nvSpPr>
            <p:cNvPr id="728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29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30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734" name="グループ"/>
          <p:cNvGrpSpPr/>
          <p:nvPr/>
        </p:nvGrpSpPr>
        <p:grpSpPr>
          <a:xfrm>
            <a:off x="11603052" y="10635512"/>
            <a:ext cx="1438817" cy="1852303"/>
            <a:chOff x="0" y="0"/>
            <a:chExt cx="1438816" cy="1852302"/>
          </a:xfrm>
        </p:grpSpPr>
        <p:sp>
          <p:nvSpPr>
            <p:cNvPr id="732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733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735" name="線"/>
          <p:cNvSpPr/>
          <p:nvPr/>
        </p:nvSpPr>
        <p:spPr>
          <a:xfrm flipH="1" flipV="1">
            <a:off x="5044080" y="5188121"/>
            <a:ext cx="14295840" cy="1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36" name="鍵を渡して、暗号通信"/>
          <p:cNvSpPr txBox="1"/>
          <p:nvPr/>
        </p:nvSpPr>
        <p:spPr>
          <a:xfrm>
            <a:off x="9017743" y="3896490"/>
            <a:ext cx="64420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鍵を渡して、暗号通信</a:t>
            </a:r>
          </a:p>
        </p:txBody>
      </p:sp>
      <p:sp>
        <p:nvSpPr>
          <p:cNvPr id="737" name="線"/>
          <p:cNvSpPr/>
          <p:nvPr/>
        </p:nvSpPr>
        <p:spPr>
          <a:xfrm>
            <a:off x="12189846" y="5094185"/>
            <a:ext cx="1" cy="3554002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38" name="鍵を渡すときに見られていたら…"/>
          <p:cNvSpPr txBox="1"/>
          <p:nvPr/>
        </p:nvSpPr>
        <p:spPr>
          <a:xfrm>
            <a:off x="13966482" y="10696476"/>
            <a:ext cx="9680576" cy="1730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821531">
              <a:defRPr sz="5000">
                <a:solidFill>
                  <a:srgbClr val="000000"/>
                </a:solidFill>
              </a:defRPr>
            </a:pPr>
            <a:r>
              <a:t>鍵を渡すときに見られていたら</a:t>
            </a:r>
          </a:p>
          <a:p>
            <a:pPr algn="l" defTabSz="821531">
              <a:defRPr sz="5000">
                <a:solidFill>
                  <a:srgbClr val="000000"/>
                </a:solidFill>
              </a:defRPr>
            </a:pPr>
            <a:r>
              <a:t>悪意ある人に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+mn-lt"/>
                <a:ea typeface="+mn-ea"/>
                <a:cs typeface="+mn-cs"/>
                <a:sym typeface="ヒラギノ角ゴ ProN W6"/>
              </a:rPr>
              <a:t>傍受・改竄</a:t>
            </a:r>
            <a:r>
              <a:t>される！</a:t>
            </a:r>
          </a:p>
        </p:txBody>
      </p:sp>
      <p:sp>
        <p:nvSpPr>
          <p:cNvPr id="739" name="線"/>
          <p:cNvSpPr/>
          <p:nvPr/>
        </p:nvSpPr>
        <p:spPr>
          <a:xfrm>
            <a:off x="5944098" y="6242928"/>
            <a:ext cx="12239622" cy="1"/>
          </a:xfrm>
          <a:prstGeom prst="line">
            <a:avLst/>
          </a:prstGeom>
          <a:ln w="88900">
            <a:solidFill>
              <a:srgbClr val="A6AAA9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740" name="登場する鍵１つ…"/>
          <p:cNvSpPr txBox="1"/>
          <p:nvPr/>
        </p:nvSpPr>
        <p:spPr>
          <a:xfrm>
            <a:off x="501709" y="8967087"/>
            <a:ext cx="4600576" cy="1730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821531">
              <a:defRPr sz="5000">
                <a:solidFill>
                  <a:srgbClr val="000000"/>
                </a:solidFill>
              </a:defRPr>
            </a:pPr>
            <a:r>
              <a:t>登場する鍵１つ</a:t>
            </a:r>
          </a:p>
          <a:p>
            <a:pPr algn="l" defTabSz="821531">
              <a:defRPr sz="5000">
                <a:solidFill>
                  <a:srgbClr val="000000"/>
                </a:solidFill>
              </a:defRPr>
            </a:pPr>
            <a:r>
              <a:t>　　共通鍵</a:t>
            </a:r>
          </a:p>
        </p:txBody>
      </p:sp>
      <p:grpSp>
        <p:nvGrpSpPr>
          <p:cNvPr id="744" name="グループ"/>
          <p:cNvGrpSpPr/>
          <p:nvPr/>
        </p:nvGrpSpPr>
        <p:grpSpPr>
          <a:xfrm>
            <a:off x="825713" y="9879153"/>
            <a:ext cx="344179" cy="670118"/>
            <a:chOff x="0" y="0"/>
            <a:chExt cx="344178" cy="670117"/>
          </a:xfrm>
        </p:grpSpPr>
        <p:sp>
          <p:nvSpPr>
            <p:cNvPr id="741" name="円形"/>
            <p:cNvSpPr/>
            <p:nvPr/>
          </p:nvSpPr>
          <p:spPr>
            <a:xfrm>
              <a:off x="0" y="333192"/>
              <a:ext cx="336925" cy="336926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2" name="線"/>
            <p:cNvSpPr/>
            <p:nvPr/>
          </p:nvSpPr>
          <p:spPr>
            <a:xfrm flipV="1">
              <a:off x="168462" y="-1"/>
              <a:ext cx="1" cy="336926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43" name="線"/>
            <p:cNvSpPr/>
            <p:nvPr/>
          </p:nvSpPr>
          <p:spPr>
            <a:xfrm>
              <a:off x="133001" y="168462"/>
              <a:ext cx="211178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21世紀の大発明、公開鍵暗号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21世紀の大発明、公開鍵暗号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鍵が２つ！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鍵が２つ！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公開鍵暗号"/>
          <p:cNvSpPr txBox="1"/>
          <p:nvPr/>
        </p:nvSpPr>
        <p:spPr>
          <a:xfrm>
            <a:off x="804653" y="663525"/>
            <a:ext cx="22774694" cy="225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defRPr spc="-159" sz="8000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公開鍵暗号</a:t>
            </a:r>
          </a:p>
        </p:txBody>
      </p:sp>
      <p:grpSp>
        <p:nvGrpSpPr>
          <p:cNvPr id="753" name="グループ"/>
          <p:cNvGrpSpPr/>
          <p:nvPr/>
        </p:nvGrpSpPr>
        <p:grpSpPr>
          <a:xfrm>
            <a:off x="2991642" y="4350533"/>
            <a:ext cx="1438817" cy="1852304"/>
            <a:chOff x="0" y="0"/>
            <a:chExt cx="1438816" cy="1852302"/>
          </a:xfrm>
        </p:grpSpPr>
        <p:sp>
          <p:nvSpPr>
            <p:cNvPr id="751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blipFill rotWithShape="1">
              <a:blip r:embed="rId2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52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756" name="グループ"/>
          <p:cNvGrpSpPr/>
          <p:nvPr/>
        </p:nvGrpSpPr>
        <p:grpSpPr>
          <a:xfrm>
            <a:off x="19949235" y="4261970"/>
            <a:ext cx="1438817" cy="1852304"/>
            <a:chOff x="0" y="0"/>
            <a:chExt cx="1438816" cy="1852302"/>
          </a:xfrm>
        </p:grpSpPr>
        <p:sp>
          <p:nvSpPr>
            <p:cNvPr id="754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EC5D57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755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759" name="グループ"/>
          <p:cNvGrpSpPr/>
          <p:nvPr/>
        </p:nvGrpSpPr>
        <p:grpSpPr>
          <a:xfrm>
            <a:off x="11603052" y="10635512"/>
            <a:ext cx="1438817" cy="1852303"/>
            <a:chOff x="0" y="0"/>
            <a:chExt cx="1438816" cy="1852302"/>
          </a:xfrm>
        </p:grpSpPr>
        <p:sp>
          <p:nvSpPr>
            <p:cNvPr id="757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758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760" name="線"/>
          <p:cNvSpPr/>
          <p:nvPr/>
        </p:nvSpPr>
        <p:spPr>
          <a:xfrm flipH="1" flipV="1">
            <a:off x="5044080" y="5188121"/>
            <a:ext cx="14295840" cy="1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764" name="グループ"/>
          <p:cNvGrpSpPr/>
          <p:nvPr/>
        </p:nvGrpSpPr>
        <p:grpSpPr>
          <a:xfrm>
            <a:off x="1844052" y="5229089"/>
            <a:ext cx="538275" cy="1048022"/>
            <a:chOff x="0" y="0"/>
            <a:chExt cx="538273" cy="1048021"/>
          </a:xfrm>
        </p:grpSpPr>
        <p:sp>
          <p:nvSpPr>
            <p:cNvPr id="761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62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63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765" name="Aさん秘密鍵"/>
          <p:cNvSpPr txBox="1"/>
          <p:nvPr/>
        </p:nvSpPr>
        <p:spPr>
          <a:xfrm>
            <a:off x="731745" y="6502702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Aさん秘密鍵</a:t>
            </a:r>
          </a:p>
        </p:txBody>
      </p:sp>
      <p:sp>
        <p:nvSpPr>
          <p:cNvPr id="766" name="Aさん公開鍵"/>
          <p:cNvSpPr txBox="1"/>
          <p:nvPr/>
        </p:nvSpPr>
        <p:spPr>
          <a:xfrm>
            <a:off x="731745" y="2873533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Aさん公開鍵</a:t>
            </a:r>
          </a:p>
        </p:txBody>
      </p:sp>
      <p:sp>
        <p:nvSpPr>
          <p:cNvPr id="767" name="Bさん公開鍵"/>
          <p:cNvSpPr txBox="1"/>
          <p:nvPr/>
        </p:nvSpPr>
        <p:spPr>
          <a:xfrm>
            <a:off x="20166219" y="2594949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Bさん公開鍵</a:t>
            </a:r>
          </a:p>
        </p:txBody>
      </p:sp>
      <p:sp>
        <p:nvSpPr>
          <p:cNvPr id="768" name="Bさん秘密鍵"/>
          <p:cNvSpPr txBox="1"/>
          <p:nvPr/>
        </p:nvSpPr>
        <p:spPr>
          <a:xfrm>
            <a:off x="20166219" y="6502702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Bさん秘密鍵</a:t>
            </a:r>
          </a:p>
        </p:txBody>
      </p:sp>
      <p:grpSp>
        <p:nvGrpSpPr>
          <p:cNvPr id="772" name="グループ"/>
          <p:cNvGrpSpPr/>
          <p:nvPr/>
        </p:nvGrpSpPr>
        <p:grpSpPr>
          <a:xfrm>
            <a:off x="1844052" y="3916237"/>
            <a:ext cx="538275" cy="1048022"/>
            <a:chOff x="0" y="0"/>
            <a:chExt cx="538273" cy="1048021"/>
          </a:xfrm>
        </p:grpSpPr>
        <p:sp>
          <p:nvSpPr>
            <p:cNvPr id="769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70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71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776" name="グループ"/>
          <p:cNvGrpSpPr/>
          <p:nvPr/>
        </p:nvGrpSpPr>
        <p:grpSpPr>
          <a:xfrm>
            <a:off x="21788429" y="3631528"/>
            <a:ext cx="538275" cy="1048022"/>
            <a:chOff x="0" y="0"/>
            <a:chExt cx="538273" cy="1048021"/>
          </a:xfrm>
        </p:grpSpPr>
        <p:sp>
          <p:nvSpPr>
            <p:cNvPr id="773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74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75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780" name="グループ"/>
          <p:cNvGrpSpPr/>
          <p:nvPr/>
        </p:nvGrpSpPr>
        <p:grpSpPr>
          <a:xfrm>
            <a:off x="21788431" y="4937762"/>
            <a:ext cx="538274" cy="1048023"/>
            <a:chOff x="0" y="0"/>
            <a:chExt cx="538273" cy="1048022"/>
          </a:xfrm>
        </p:grpSpPr>
        <p:sp>
          <p:nvSpPr>
            <p:cNvPr id="777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78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79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781" name="安心して通信したい"/>
          <p:cNvSpPr txBox="1"/>
          <p:nvPr/>
        </p:nvSpPr>
        <p:spPr>
          <a:xfrm>
            <a:off x="9275762" y="4208046"/>
            <a:ext cx="583247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安心して通信したい</a:t>
            </a:r>
          </a:p>
        </p:txBody>
      </p:sp>
      <p:sp>
        <p:nvSpPr>
          <p:cNvPr id="782" name="線"/>
          <p:cNvSpPr/>
          <p:nvPr/>
        </p:nvSpPr>
        <p:spPr>
          <a:xfrm flipH="1">
            <a:off x="12189847" y="5135093"/>
            <a:ext cx="1" cy="4526522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83" name="見られたくない"/>
          <p:cNvSpPr txBox="1"/>
          <p:nvPr/>
        </p:nvSpPr>
        <p:spPr>
          <a:xfrm>
            <a:off x="13240128" y="7453650"/>
            <a:ext cx="460057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見られたくない</a:t>
            </a:r>
          </a:p>
        </p:txBody>
      </p:sp>
      <p:grpSp>
        <p:nvGrpSpPr>
          <p:cNvPr id="786" name="グループ"/>
          <p:cNvGrpSpPr/>
          <p:nvPr/>
        </p:nvGrpSpPr>
        <p:grpSpPr>
          <a:xfrm>
            <a:off x="11557000" y="7207587"/>
            <a:ext cx="1270000" cy="1270001"/>
            <a:chOff x="0" y="0"/>
            <a:chExt cx="1270000" cy="1270000"/>
          </a:xfrm>
        </p:grpSpPr>
        <p:sp>
          <p:nvSpPr>
            <p:cNvPr id="784" name="線"/>
            <p:cNvSpPr/>
            <p:nvPr/>
          </p:nvSpPr>
          <p:spPr>
            <a:xfrm flipV="1">
              <a:off x="0" y="0"/>
              <a:ext cx="1270000" cy="1270000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85" name="線"/>
            <p:cNvSpPr/>
            <p:nvPr/>
          </p:nvSpPr>
          <p:spPr>
            <a:xfrm flipH="1" flipV="1">
              <a:off x="0" y="0"/>
              <a:ext cx="1270000" cy="1270000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808" name="グループ"/>
          <p:cNvGrpSpPr/>
          <p:nvPr/>
        </p:nvGrpSpPr>
        <p:grpSpPr>
          <a:xfrm>
            <a:off x="457853" y="7861017"/>
            <a:ext cx="6505576" cy="5540375"/>
            <a:chOff x="0" y="0"/>
            <a:chExt cx="6505575" cy="5540374"/>
          </a:xfrm>
        </p:grpSpPr>
        <p:sp>
          <p:nvSpPr>
            <p:cNvPr id="787" name="登場する鍵５つ…"/>
            <p:cNvSpPr txBox="1"/>
            <p:nvPr/>
          </p:nvSpPr>
          <p:spPr>
            <a:xfrm>
              <a:off x="0" y="0"/>
              <a:ext cx="6505575" cy="5540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t">
              <a:spAutoFit/>
            </a:bodyPr>
            <a:lstStyle/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登場する鍵５つ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生成される共通鍵</a:t>
              </a:r>
            </a:p>
          </p:txBody>
        </p:sp>
        <p:grpSp>
          <p:nvGrpSpPr>
            <p:cNvPr id="791" name="グループ"/>
            <p:cNvGrpSpPr/>
            <p:nvPr/>
          </p:nvGrpSpPr>
          <p:grpSpPr>
            <a:xfrm>
              <a:off x="428716" y="1007437"/>
              <a:ext cx="344179" cy="670118"/>
              <a:chOff x="0" y="0"/>
              <a:chExt cx="344178" cy="670116"/>
            </a:xfrm>
          </p:grpSpPr>
          <p:sp>
            <p:nvSpPr>
              <p:cNvPr id="788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789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90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795" name="グループ"/>
            <p:cNvGrpSpPr/>
            <p:nvPr/>
          </p:nvGrpSpPr>
          <p:grpSpPr>
            <a:xfrm>
              <a:off x="407868" y="2857589"/>
              <a:ext cx="344180" cy="670117"/>
              <a:chOff x="0" y="0"/>
              <a:chExt cx="344178" cy="670116"/>
            </a:xfrm>
          </p:grpSpPr>
          <p:sp>
            <p:nvSpPr>
              <p:cNvPr id="792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793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94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799" name="グループ"/>
            <p:cNvGrpSpPr/>
            <p:nvPr/>
          </p:nvGrpSpPr>
          <p:grpSpPr>
            <a:xfrm>
              <a:off x="403316" y="4766451"/>
              <a:ext cx="344179" cy="670118"/>
              <a:chOff x="0" y="0"/>
              <a:chExt cx="344178" cy="670117"/>
            </a:xfrm>
          </p:grpSpPr>
          <p:sp>
            <p:nvSpPr>
              <p:cNvPr id="796" name="円形"/>
              <p:cNvSpPr/>
              <p:nvPr/>
            </p:nvSpPr>
            <p:spPr>
              <a:xfrm>
                <a:off x="0" y="333192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797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98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803" name="グループ"/>
            <p:cNvGrpSpPr/>
            <p:nvPr/>
          </p:nvGrpSpPr>
          <p:grpSpPr>
            <a:xfrm>
              <a:off x="403316" y="1918847"/>
              <a:ext cx="344179" cy="670117"/>
              <a:chOff x="0" y="0"/>
              <a:chExt cx="344178" cy="670116"/>
            </a:xfrm>
          </p:grpSpPr>
          <p:sp>
            <p:nvSpPr>
              <p:cNvPr id="800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01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02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807" name="グループ"/>
            <p:cNvGrpSpPr/>
            <p:nvPr/>
          </p:nvGrpSpPr>
          <p:grpSpPr>
            <a:xfrm>
              <a:off x="398764" y="3812020"/>
              <a:ext cx="344179" cy="670118"/>
              <a:chOff x="0" y="0"/>
              <a:chExt cx="344178" cy="670116"/>
            </a:xfrm>
          </p:grpSpPr>
          <p:sp>
            <p:nvSpPr>
              <p:cNvPr id="804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05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06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公開鍵暗号"/>
          <p:cNvSpPr txBox="1"/>
          <p:nvPr/>
        </p:nvSpPr>
        <p:spPr>
          <a:xfrm>
            <a:off x="804653" y="663525"/>
            <a:ext cx="22774694" cy="225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defRPr spc="-159" sz="8000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公開鍵暗号</a:t>
            </a:r>
          </a:p>
        </p:txBody>
      </p:sp>
      <p:grpSp>
        <p:nvGrpSpPr>
          <p:cNvPr id="813" name="グループ"/>
          <p:cNvGrpSpPr/>
          <p:nvPr/>
        </p:nvGrpSpPr>
        <p:grpSpPr>
          <a:xfrm>
            <a:off x="2991642" y="4350533"/>
            <a:ext cx="1438817" cy="1852304"/>
            <a:chOff x="0" y="0"/>
            <a:chExt cx="1438816" cy="1852302"/>
          </a:xfrm>
        </p:grpSpPr>
        <p:sp>
          <p:nvSpPr>
            <p:cNvPr id="811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blipFill rotWithShape="1">
              <a:blip r:embed="rId2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12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816" name="グループ"/>
          <p:cNvGrpSpPr/>
          <p:nvPr/>
        </p:nvGrpSpPr>
        <p:grpSpPr>
          <a:xfrm>
            <a:off x="19949235" y="4261970"/>
            <a:ext cx="1438817" cy="1852304"/>
            <a:chOff x="0" y="0"/>
            <a:chExt cx="1438816" cy="1852302"/>
          </a:xfrm>
        </p:grpSpPr>
        <p:sp>
          <p:nvSpPr>
            <p:cNvPr id="814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EC5D57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815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819" name="グループ"/>
          <p:cNvGrpSpPr/>
          <p:nvPr/>
        </p:nvGrpSpPr>
        <p:grpSpPr>
          <a:xfrm>
            <a:off x="11603052" y="10635512"/>
            <a:ext cx="1438817" cy="1852303"/>
            <a:chOff x="0" y="0"/>
            <a:chExt cx="1438816" cy="1852302"/>
          </a:xfrm>
        </p:grpSpPr>
        <p:sp>
          <p:nvSpPr>
            <p:cNvPr id="817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818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820" name="線"/>
          <p:cNvSpPr/>
          <p:nvPr/>
        </p:nvSpPr>
        <p:spPr>
          <a:xfrm flipH="1" flipV="1">
            <a:off x="5044080" y="5188121"/>
            <a:ext cx="14295840" cy="1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824" name="グループ"/>
          <p:cNvGrpSpPr/>
          <p:nvPr/>
        </p:nvGrpSpPr>
        <p:grpSpPr>
          <a:xfrm>
            <a:off x="1844052" y="5229089"/>
            <a:ext cx="538275" cy="1048022"/>
            <a:chOff x="0" y="0"/>
            <a:chExt cx="538273" cy="1048021"/>
          </a:xfrm>
        </p:grpSpPr>
        <p:sp>
          <p:nvSpPr>
            <p:cNvPr id="821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22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23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825" name="Aさん秘密鍵"/>
          <p:cNvSpPr txBox="1"/>
          <p:nvPr/>
        </p:nvSpPr>
        <p:spPr>
          <a:xfrm>
            <a:off x="731745" y="6502702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Aさん秘密鍵</a:t>
            </a:r>
          </a:p>
        </p:txBody>
      </p:sp>
      <p:sp>
        <p:nvSpPr>
          <p:cNvPr id="826" name="Aさん公開鍵"/>
          <p:cNvSpPr txBox="1"/>
          <p:nvPr/>
        </p:nvSpPr>
        <p:spPr>
          <a:xfrm>
            <a:off x="731745" y="2873533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Aさん公開鍵</a:t>
            </a:r>
          </a:p>
        </p:txBody>
      </p:sp>
      <p:sp>
        <p:nvSpPr>
          <p:cNvPr id="827" name="Bさん公開鍵"/>
          <p:cNvSpPr txBox="1"/>
          <p:nvPr/>
        </p:nvSpPr>
        <p:spPr>
          <a:xfrm>
            <a:off x="20166219" y="2594949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Bさん公開鍵</a:t>
            </a:r>
          </a:p>
        </p:txBody>
      </p:sp>
      <p:sp>
        <p:nvSpPr>
          <p:cNvPr id="828" name="Bさん秘密鍵"/>
          <p:cNvSpPr txBox="1"/>
          <p:nvPr/>
        </p:nvSpPr>
        <p:spPr>
          <a:xfrm>
            <a:off x="20166219" y="6502702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Bさん秘密鍵</a:t>
            </a:r>
          </a:p>
        </p:txBody>
      </p:sp>
      <p:grpSp>
        <p:nvGrpSpPr>
          <p:cNvPr id="832" name="グループ"/>
          <p:cNvGrpSpPr/>
          <p:nvPr/>
        </p:nvGrpSpPr>
        <p:grpSpPr>
          <a:xfrm>
            <a:off x="11294386" y="9321618"/>
            <a:ext cx="538275" cy="1048022"/>
            <a:chOff x="0" y="0"/>
            <a:chExt cx="538273" cy="1048021"/>
          </a:xfrm>
        </p:grpSpPr>
        <p:sp>
          <p:nvSpPr>
            <p:cNvPr id="829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30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31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836" name="グループ"/>
          <p:cNvGrpSpPr/>
          <p:nvPr/>
        </p:nvGrpSpPr>
        <p:grpSpPr>
          <a:xfrm>
            <a:off x="21788429" y="3631528"/>
            <a:ext cx="538275" cy="1048022"/>
            <a:chOff x="0" y="0"/>
            <a:chExt cx="538273" cy="1048021"/>
          </a:xfrm>
        </p:grpSpPr>
        <p:sp>
          <p:nvSpPr>
            <p:cNvPr id="833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34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35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840" name="グループ"/>
          <p:cNvGrpSpPr/>
          <p:nvPr/>
        </p:nvGrpSpPr>
        <p:grpSpPr>
          <a:xfrm>
            <a:off x="21788431" y="4937762"/>
            <a:ext cx="538274" cy="1048023"/>
            <a:chOff x="0" y="0"/>
            <a:chExt cx="538273" cy="1048022"/>
          </a:xfrm>
        </p:grpSpPr>
        <p:sp>
          <p:nvSpPr>
            <p:cNvPr id="837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38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39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841" name="線"/>
          <p:cNvSpPr/>
          <p:nvPr/>
        </p:nvSpPr>
        <p:spPr>
          <a:xfrm flipH="1">
            <a:off x="12189847" y="5135093"/>
            <a:ext cx="1" cy="4526522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42" name="線"/>
          <p:cNvSpPr/>
          <p:nvPr/>
        </p:nvSpPr>
        <p:spPr>
          <a:xfrm>
            <a:off x="5843102" y="3773308"/>
            <a:ext cx="15376010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843" name="線"/>
          <p:cNvSpPr/>
          <p:nvPr/>
        </p:nvSpPr>
        <p:spPr>
          <a:xfrm>
            <a:off x="2842742" y="4267073"/>
            <a:ext cx="15376011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847" name="グループ"/>
          <p:cNvGrpSpPr/>
          <p:nvPr/>
        </p:nvGrpSpPr>
        <p:grpSpPr>
          <a:xfrm>
            <a:off x="5013129" y="3080983"/>
            <a:ext cx="538274" cy="1048022"/>
            <a:chOff x="0" y="0"/>
            <a:chExt cx="538273" cy="1048021"/>
          </a:xfrm>
        </p:grpSpPr>
        <p:sp>
          <p:nvSpPr>
            <p:cNvPr id="844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45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46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851" name="グループ"/>
          <p:cNvGrpSpPr/>
          <p:nvPr/>
        </p:nvGrpSpPr>
        <p:grpSpPr>
          <a:xfrm>
            <a:off x="18814856" y="3852737"/>
            <a:ext cx="538274" cy="1048022"/>
            <a:chOff x="0" y="0"/>
            <a:chExt cx="538273" cy="1048021"/>
          </a:xfrm>
        </p:grpSpPr>
        <p:sp>
          <p:nvSpPr>
            <p:cNvPr id="848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49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50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852" name="公開鍵をお互いに取得する"/>
          <p:cNvSpPr txBox="1"/>
          <p:nvPr/>
        </p:nvSpPr>
        <p:spPr>
          <a:xfrm>
            <a:off x="14943346" y="9108142"/>
            <a:ext cx="8657520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marL="881944" indent="-881944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公開鍵をお互いに取得する</a:t>
            </a:r>
          </a:p>
        </p:txBody>
      </p:sp>
      <p:grpSp>
        <p:nvGrpSpPr>
          <p:cNvPr id="856" name="グループ"/>
          <p:cNvGrpSpPr/>
          <p:nvPr/>
        </p:nvGrpSpPr>
        <p:grpSpPr>
          <a:xfrm>
            <a:off x="12547034" y="9321618"/>
            <a:ext cx="538274" cy="1048022"/>
            <a:chOff x="0" y="0"/>
            <a:chExt cx="538273" cy="1048021"/>
          </a:xfrm>
        </p:grpSpPr>
        <p:sp>
          <p:nvSpPr>
            <p:cNvPr id="853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54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55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860" name="グループ"/>
          <p:cNvGrpSpPr/>
          <p:nvPr/>
        </p:nvGrpSpPr>
        <p:grpSpPr>
          <a:xfrm>
            <a:off x="1971052" y="4043237"/>
            <a:ext cx="538275" cy="1048022"/>
            <a:chOff x="0" y="0"/>
            <a:chExt cx="538273" cy="1048021"/>
          </a:xfrm>
        </p:grpSpPr>
        <p:sp>
          <p:nvSpPr>
            <p:cNvPr id="857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58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59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861" name="第三者も公開鍵は取得できる"/>
          <p:cNvSpPr txBox="1"/>
          <p:nvPr/>
        </p:nvSpPr>
        <p:spPr>
          <a:xfrm>
            <a:off x="8280707" y="12585825"/>
            <a:ext cx="8410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第三者も公開鍵は取得できる</a:t>
            </a:r>
          </a:p>
        </p:txBody>
      </p:sp>
      <p:grpSp>
        <p:nvGrpSpPr>
          <p:cNvPr id="883" name="グループ"/>
          <p:cNvGrpSpPr/>
          <p:nvPr/>
        </p:nvGrpSpPr>
        <p:grpSpPr>
          <a:xfrm>
            <a:off x="457853" y="7861017"/>
            <a:ext cx="6505576" cy="5540375"/>
            <a:chOff x="0" y="0"/>
            <a:chExt cx="6505575" cy="5540374"/>
          </a:xfrm>
        </p:grpSpPr>
        <p:sp>
          <p:nvSpPr>
            <p:cNvPr id="862" name="登場する鍵５つ…"/>
            <p:cNvSpPr txBox="1"/>
            <p:nvPr/>
          </p:nvSpPr>
          <p:spPr>
            <a:xfrm>
              <a:off x="0" y="0"/>
              <a:ext cx="6505575" cy="5540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t">
              <a:spAutoFit/>
            </a:bodyPr>
            <a:lstStyle/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登場する鍵５つ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生成される共通鍵</a:t>
              </a:r>
            </a:p>
          </p:txBody>
        </p:sp>
        <p:grpSp>
          <p:nvGrpSpPr>
            <p:cNvPr id="866" name="グループ"/>
            <p:cNvGrpSpPr/>
            <p:nvPr/>
          </p:nvGrpSpPr>
          <p:grpSpPr>
            <a:xfrm>
              <a:off x="428716" y="1007437"/>
              <a:ext cx="344179" cy="670118"/>
              <a:chOff x="0" y="0"/>
              <a:chExt cx="344178" cy="670116"/>
            </a:xfrm>
          </p:grpSpPr>
          <p:sp>
            <p:nvSpPr>
              <p:cNvPr id="863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64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65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870" name="グループ"/>
            <p:cNvGrpSpPr/>
            <p:nvPr/>
          </p:nvGrpSpPr>
          <p:grpSpPr>
            <a:xfrm>
              <a:off x="407868" y="2857589"/>
              <a:ext cx="344180" cy="670117"/>
              <a:chOff x="0" y="0"/>
              <a:chExt cx="344178" cy="670116"/>
            </a:xfrm>
          </p:grpSpPr>
          <p:sp>
            <p:nvSpPr>
              <p:cNvPr id="867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68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69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874" name="グループ"/>
            <p:cNvGrpSpPr/>
            <p:nvPr/>
          </p:nvGrpSpPr>
          <p:grpSpPr>
            <a:xfrm>
              <a:off x="403316" y="4766451"/>
              <a:ext cx="344179" cy="670118"/>
              <a:chOff x="0" y="0"/>
              <a:chExt cx="344178" cy="670117"/>
            </a:xfrm>
          </p:grpSpPr>
          <p:sp>
            <p:nvSpPr>
              <p:cNvPr id="871" name="円形"/>
              <p:cNvSpPr/>
              <p:nvPr/>
            </p:nvSpPr>
            <p:spPr>
              <a:xfrm>
                <a:off x="0" y="333192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72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73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878" name="グループ"/>
            <p:cNvGrpSpPr/>
            <p:nvPr/>
          </p:nvGrpSpPr>
          <p:grpSpPr>
            <a:xfrm>
              <a:off x="403316" y="1918847"/>
              <a:ext cx="344179" cy="670117"/>
              <a:chOff x="0" y="0"/>
              <a:chExt cx="344178" cy="670116"/>
            </a:xfrm>
          </p:grpSpPr>
          <p:sp>
            <p:nvSpPr>
              <p:cNvPr id="875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76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77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882" name="グループ"/>
            <p:cNvGrpSpPr/>
            <p:nvPr/>
          </p:nvGrpSpPr>
          <p:grpSpPr>
            <a:xfrm>
              <a:off x="398764" y="3812020"/>
              <a:ext cx="344179" cy="670118"/>
              <a:chOff x="0" y="0"/>
              <a:chExt cx="344178" cy="670116"/>
            </a:xfrm>
          </p:grpSpPr>
          <p:sp>
            <p:nvSpPr>
              <p:cNvPr id="879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80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81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公開鍵暗号"/>
          <p:cNvSpPr txBox="1"/>
          <p:nvPr/>
        </p:nvSpPr>
        <p:spPr>
          <a:xfrm>
            <a:off x="804653" y="663525"/>
            <a:ext cx="22774694" cy="225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defRPr spc="-159" sz="8000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公開鍵暗号</a:t>
            </a:r>
          </a:p>
        </p:txBody>
      </p:sp>
      <p:grpSp>
        <p:nvGrpSpPr>
          <p:cNvPr id="888" name="グループ"/>
          <p:cNvGrpSpPr/>
          <p:nvPr/>
        </p:nvGrpSpPr>
        <p:grpSpPr>
          <a:xfrm>
            <a:off x="2991642" y="4350533"/>
            <a:ext cx="1438817" cy="1852304"/>
            <a:chOff x="0" y="0"/>
            <a:chExt cx="1438816" cy="1852302"/>
          </a:xfrm>
        </p:grpSpPr>
        <p:sp>
          <p:nvSpPr>
            <p:cNvPr id="886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blipFill rotWithShape="1">
              <a:blip r:embed="rId2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87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891" name="グループ"/>
          <p:cNvGrpSpPr/>
          <p:nvPr/>
        </p:nvGrpSpPr>
        <p:grpSpPr>
          <a:xfrm>
            <a:off x="19949235" y="4261970"/>
            <a:ext cx="1438817" cy="1852304"/>
            <a:chOff x="0" y="0"/>
            <a:chExt cx="1438816" cy="1852302"/>
          </a:xfrm>
        </p:grpSpPr>
        <p:sp>
          <p:nvSpPr>
            <p:cNvPr id="889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EC5D57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890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894" name="グループ"/>
          <p:cNvGrpSpPr/>
          <p:nvPr/>
        </p:nvGrpSpPr>
        <p:grpSpPr>
          <a:xfrm>
            <a:off x="11603052" y="10635512"/>
            <a:ext cx="1438817" cy="1852303"/>
            <a:chOff x="0" y="0"/>
            <a:chExt cx="1438816" cy="1852302"/>
          </a:xfrm>
        </p:grpSpPr>
        <p:sp>
          <p:nvSpPr>
            <p:cNvPr id="892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893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895" name="線"/>
          <p:cNvSpPr/>
          <p:nvPr/>
        </p:nvSpPr>
        <p:spPr>
          <a:xfrm flipH="1" flipV="1">
            <a:off x="5044080" y="5188121"/>
            <a:ext cx="14295840" cy="1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899" name="グループ"/>
          <p:cNvGrpSpPr/>
          <p:nvPr/>
        </p:nvGrpSpPr>
        <p:grpSpPr>
          <a:xfrm>
            <a:off x="1844052" y="5229089"/>
            <a:ext cx="538275" cy="1048022"/>
            <a:chOff x="0" y="0"/>
            <a:chExt cx="538273" cy="1048021"/>
          </a:xfrm>
        </p:grpSpPr>
        <p:sp>
          <p:nvSpPr>
            <p:cNvPr id="896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97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98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900" name="Aさん秘密鍵"/>
          <p:cNvSpPr txBox="1"/>
          <p:nvPr/>
        </p:nvSpPr>
        <p:spPr>
          <a:xfrm>
            <a:off x="731745" y="6502702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Aさん秘密鍵</a:t>
            </a:r>
          </a:p>
        </p:txBody>
      </p:sp>
      <p:sp>
        <p:nvSpPr>
          <p:cNvPr id="901" name="Aさん公開鍵"/>
          <p:cNvSpPr txBox="1"/>
          <p:nvPr/>
        </p:nvSpPr>
        <p:spPr>
          <a:xfrm>
            <a:off x="731745" y="2873533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Aさん公開鍵</a:t>
            </a:r>
          </a:p>
        </p:txBody>
      </p:sp>
      <p:sp>
        <p:nvSpPr>
          <p:cNvPr id="902" name="Bさん公開鍵"/>
          <p:cNvSpPr txBox="1"/>
          <p:nvPr/>
        </p:nvSpPr>
        <p:spPr>
          <a:xfrm>
            <a:off x="20166219" y="2594949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Bさん公開鍵</a:t>
            </a:r>
          </a:p>
        </p:txBody>
      </p:sp>
      <p:sp>
        <p:nvSpPr>
          <p:cNvPr id="903" name="Bさん秘密鍵"/>
          <p:cNvSpPr txBox="1"/>
          <p:nvPr/>
        </p:nvSpPr>
        <p:spPr>
          <a:xfrm>
            <a:off x="20166219" y="6502702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Bさん秘密鍵</a:t>
            </a:r>
          </a:p>
        </p:txBody>
      </p:sp>
      <p:grpSp>
        <p:nvGrpSpPr>
          <p:cNvPr id="907" name="グループ"/>
          <p:cNvGrpSpPr/>
          <p:nvPr/>
        </p:nvGrpSpPr>
        <p:grpSpPr>
          <a:xfrm>
            <a:off x="11294386" y="9321618"/>
            <a:ext cx="538275" cy="1048022"/>
            <a:chOff x="0" y="0"/>
            <a:chExt cx="538273" cy="1048021"/>
          </a:xfrm>
        </p:grpSpPr>
        <p:sp>
          <p:nvSpPr>
            <p:cNvPr id="904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05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06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11" name="グループ"/>
          <p:cNvGrpSpPr/>
          <p:nvPr/>
        </p:nvGrpSpPr>
        <p:grpSpPr>
          <a:xfrm>
            <a:off x="21788429" y="3631528"/>
            <a:ext cx="538275" cy="1048022"/>
            <a:chOff x="0" y="0"/>
            <a:chExt cx="538273" cy="1048021"/>
          </a:xfrm>
        </p:grpSpPr>
        <p:sp>
          <p:nvSpPr>
            <p:cNvPr id="908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09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10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15" name="グループ"/>
          <p:cNvGrpSpPr/>
          <p:nvPr/>
        </p:nvGrpSpPr>
        <p:grpSpPr>
          <a:xfrm>
            <a:off x="21788431" y="4937762"/>
            <a:ext cx="538274" cy="1048023"/>
            <a:chOff x="0" y="0"/>
            <a:chExt cx="538273" cy="1048022"/>
          </a:xfrm>
        </p:grpSpPr>
        <p:sp>
          <p:nvSpPr>
            <p:cNvPr id="912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13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14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916" name="線"/>
          <p:cNvSpPr/>
          <p:nvPr/>
        </p:nvSpPr>
        <p:spPr>
          <a:xfrm flipH="1">
            <a:off x="12189847" y="5135093"/>
            <a:ext cx="1" cy="4526522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920" name="グループ"/>
          <p:cNvGrpSpPr/>
          <p:nvPr/>
        </p:nvGrpSpPr>
        <p:grpSpPr>
          <a:xfrm>
            <a:off x="5013129" y="3080983"/>
            <a:ext cx="538274" cy="1048022"/>
            <a:chOff x="0" y="0"/>
            <a:chExt cx="538273" cy="1048021"/>
          </a:xfrm>
        </p:grpSpPr>
        <p:sp>
          <p:nvSpPr>
            <p:cNvPr id="917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18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19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921" name="公開鍵をお互いに取得する…"/>
          <p:cNvSpPr txBox="1"/>
          <p:nvPr/>
        </p:nvSpPr>
        <p:spPr>
          <a:xfrm>
            <a:off x="14943346" y="9108141"/>
            <a:ext cx="8657520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/>
          <a:p>
            <a:pPr marL="881944" indent="-881944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pPr>
            <a:r>
              <a:t>公開鍵をお互いに取得する</a:t>
            </a:r>
          </a:p>
          <a:p>
            <a:pPr marL="881944" indent="-881944" algn="l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pPr>
            <a:r>
              <a:t>共通鍵をお互いで生成する</a:t>
            </a:r>
          </a:p>
        </p:txBody>
      </p:sp>
      <p:grpSp>
        <p:nvGrpSpPr>
          <p:cNvPr id="925" name="グループ"/>
          <p:cNvGrpSpPr/>
          <p:nvPr/>
        </p:nvGrpSpPr>
        <p:grpSpPr>
          <a:xfrm>
            <a:off x="12547034" y="9321618"/>
            <a:ext cx="538274" cy="1048022"/>
            <a:chOff x="0" y="0"/>
            <a:chExt cx="538273" cy="1048021"/>
          </a:xfrm>
        </p:grpSpPr>
        <p:sp>
          <p:nvSpPr>
            <p:cNvPr id="922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23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24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29" name="グループ"/>
          <p:cNvGrpSpPr/>
          <p:nvPr/>
        </p:nvGrpSpPr>
        <p:grpSpPr>
          <a:xfrm>
            <a:off x="1971052" y="4043237"/>
            <a:ext cx="538275" cy="1048022"/>
            <a:chOff x="0" y="0"/>
            <a:chExt cx="538273" cy="1048021"/>
          </a:xfrm>
        </p:grpSpPr>
        <p:sp>
          <p:nvSpPr>
            <p:cNvPr id="926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27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28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930" name="第三者は共通鍵を生成できない"/>
          <p:cNvSpPr txBox="1"/>
          <p:nvPr/>
        </p:nvSpPr>
        <p:spPr>
          <a:xfrm>
            <a:off x="7963207" y="12585825"/>
            <a:ext cx="9045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第三者は共通鍵を生成できない</a:t>
            </a:r>
          </a:p>
        </p:txBody>
      </p:sp>
      <p:grpSp>
        <p:nvGrpSpPr>
          <p:cNvPr id="934" name="グループ"/>
          <p:cNvGrpSpPr/>
          <p:nvPr/>
        </p:nvGrpSpPr>
        <p:grpSpPr>
          <a:xfrm>
            <a:off x="18814856" y="3852737"/>
            <a:ext cx="538274" cy="1048022"/>
            <a:chOff x="0" y="0"/>
            <a:chExt cx="538273" cy="1048021"/>
          </a:xfrm>
        </p:grpSpPr>
        <p:sp>
          <p:nvSpPr>
            <p:cNvPr id="931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32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33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38" name="グループ"/>
          <p:cNvGrpSpPr/>
          <p:nvPr/>
        </p:nvGrpSpPr>
        <p:grpSpPr>
          <a:xfrm>
            <a:off x="5338670" y="5478539"/>
            <a:ext cx="538275" cy="1048023"/>
            <a:chOff x="0" y="0"/>
            <a:chExt cx="538273" cy="1048021"/>
          </a:xfrm>
        </p:grpSpPr>
        <p:sp>
          <p:nvSpPr>
            <p:cNvPr id="935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36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37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42" name="グループ"/>
          <p:cNvGrpSpPr/>
          <p:nvPr/>
        </p:nvGrpSpPr>
        <p:grpSpPr>
          <a:xfrm>
            <a:off x="18502749" y="5491356"/>
            <a:ext cx="538275" cy="1048023"/>
            <a:chOff x="0" y="0"/>
            <a:chExt cx="538273" cy="1048021"/>
          </a:xfrm>
        </p:grpSpPr>
        <p:sp>
          <p:nvSpPr>
            <p:cNvPr id="939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40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41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943" name="線"/>
          <p:cNvSpPr/>
          <p:nvPr/>
        </p:nvSpPr>
        <p:spPr>
          <a:xfrm flipV="1">
            <a:off x="19287858" y="5681834"/>
            <a:ext cx="2205607" cy="457088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944" name="線"/>
          <p:cNvSpPr/>
          <p:nvPr/>
        </p:nvSpPr>
        <p:spPr>
          <a:xfrm flipH="1" flipV="1">
            <a:off x="19544259" y="4755167"/>
            <a:ext cx="492826" cy="121927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945" name="線"/>
          <p:cNvSpPr/>
          <p:nvPr/>
        </p:nvSpPr>
        <p:spPr>
          <a:xfrm flipH="1" flipV="1">
            <a:off x="2610824" y="5768677"/>
            <a:ext cx="2503963" cy="442291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946" name="線"/>
          <p:cNvSpPr/>
          <p:nvPr/>
        </p:nvSpPr>
        <p:spPr>
          <a:xfrm flipV="1">
            <a:off x="4365477" y="4335745"/>
            <a:ext cx="725761" cy="178434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968" name="グループ"/>
          <p:cNvGrpSpPr/>
          <p:nvPr/>
        </p:nvGrpSpPr>
        <p:grpSpPr>
          <a:xfrm>
            <a:off x="457853" y="7861017"/>
            <a:ext cx="6505576" cy="5540375"/>
            <a:chOff x="0" y="0"/>
            <a:chExt cx="6505575" cy="5540374"/>
          </a:xfrm>
        </p:grpSpPr>
        <p:sp>
          <p:nvSpPr>
            <p:cNvPr id="947" name="登場する鍵５つ…"/>
            <p:cNvSpPr txBox="1"/>
            <p:nvPr/>
          </p:nvSpPr>
          <p:spPr>
            <a:xfrm>
              <a:off x="0" y="0"/>
              <a:ext cx="6505575" cy="5540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t">
              <a:spAutoFit/>
            </a:bodyPr>
            <a:lstStyle/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登場する鍵５つ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生成される共通鍵</a:t>
              </a:r>
            </a:p>
          </p:txBody>
        </p:sp>
        <p:grpSp>
          <p:nvGrpSpPr>
            <p:cNvPr id="951" name="グループ"/>
            <p:cNvGrpSpPr/>
            <p:nvPr/>
          </p:nvGrpSpPr>
          <p:grpSpPr>
            <a:xfrm>
              <a:off x="428716" y="1007437"/>
              <a:ext cx="344179" cy="670118"/>
              <a:chOff x="0" y="0"/>
              <a:chExt cx="344178" cy="670116"/>
            </a:xfrm>
          </p:grpSpPr>
          <p:sp>
            <p:nvSpPr>
              <p:cNvPr id="948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49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50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55" name="グループ"/>
            <p:cNvGrpSpPr/>
            <p:nvPr/>
          </p:nvGrpSpPr>
          <p:grpSpPr>
            <a:xfrm>
              <a:off x="407868" y="2857589"/>
              <a:ext cx="344180" cy="670117"/>
              <a:chOff x="0" y="0"/>
              <a:chExt cx="344178" cy="670116"/>
            </a:xfrm>
          </p:grpSpPr>
          <p:sp>
            <p:nvSpPr>
              <p:cNvPr id="952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53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54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59" name="グループ"/>
            <p:cNvGrpSpPr/>
            <p:nvPr/>
          </p:nvGrpSpPr>
          <p:grpSpPr>
            <a:xfrm>
              <a:off x="403316" y="4766451"/>
              <a:ext cx="344179" cy="670118"/>
              <a:chOff x="0" y="0"/>
              <a:chExt cx="344178" cy="670117"/>
            </a:xfrm>
          </p:grpSpPr>
          <p:sp>
            <p:nvSpPr>
              <p:cNvPr id="956" name="円形"/>
              <p:cNvSpPr/>
              <p:nvPr/>
            </p:nvSpPr>
            <p:spPr>
              <a:xfrm>
                <a:off x="0" y="333192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57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58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63" name="グループ"/>
            <p:cNvGrpSpPr/>
            <p:nvPr/>
          </p:nvGrpSpPr>
          <p:grpSpPr>
            <a:xfrm>
              <a:off x="403316" y="1918847"/>
              <a:ext cx="344179" cy="670117"/>
              <a:chOff x="0" y="0"/>
              <a:chExt cx="344178" cy="670116"/>
            </a:xfrm>
          </p:grpSpPr>
          <p:sp>
            <p:nvSpPr>
              <p:cNvPr id="960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61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62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67" name="グループ"/>
            <p:cNvGrpSpPr/>
            <p:nvPr/>
          </p:nvGrpSpPr>
          <p:grpSpPr>
            <a:xfrm>
              <a:off x="398764" y="3812020"/>
              <a:ext cx="344179" cy="670118"/>
              <a:chOff x="0" y="0"/>
              <a:chExt cx="344178" cy="670116"/>
            </a:xfrm>
          </p:grpSpPr>
          <p:sp>
            <p:nvSpPr>
              <p:cNvPr id="964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65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66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969" name="共通鍵"/>
          <p:cNvSpPr txBox="1"/>
          <p:nvPr/>
        </p:nvSpPr>
        <p:spPr>
          <a:xfrm>
            <a:off x="6221637" y="5848016"/>
            <a:ext cx="201930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共通鍵</a:t>
            </a:r>
          </a:p>
        </p:txBody>
      </p:sp>
      <p:sp>
        <p:nvSpPr>
          <p:cNvPr id="970" name="共通鍵"/>
          <p:cNvSpPr txBox="1"/>
          <p:nvPr/>
        </p:nvSpPr>
        <p:spPr>
          <a:xfrm>
            <a:off x="16236615" y="5797039"/>
            <a:ext cx="201930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共通鍵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公開鍵暗号"/>
          <p:cNvSpPr txBox="1"/>
          <p:nvPr/>
        </p:nvSpPr>
        <p:spPr>
          <a:xfrm>
            <a:off x="804653" y="663525"/>
            <a:ext cx="22774694" cy="225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defRPr spc="-159" sz="8000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公開鍵暗号</a:t>
            </a:r>
          </a:p>
        </p:txBody>
      </p:sp>
      <p:grpSp>
        <p:nvGrpSpPr>
          <p:cNvPr id="975" name="グループ"/>
          <p:cNvGrpSpPr/>
          <p:nvPr/>
        </p:nvGrpSpPr>
        <p:grpSpPr>
          <a:xfrm>
            <a:off x="2991642" y="4350533"/>
            <a:ext cx="1438817" cy="1852304"/>
            <a:chOff x="0" y="0"/>
            <a:chExt cx="1438816" cy="1852302"/>
          </a:xfrm>
        </p:grpSpPr>
        <p:sp>
          <p:nvSpPr>
            <p:cNvPr id="973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blipFill rotWithShape="1">
              <a:blip r:embed="rId2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4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978" name="グループ"/>
          <p:cNvGrpSpPr/>
          <p:nvPr/>
        </p:nvGrpSpPr>
        <p:grpSpPr>
          <a:xfrm>
            <a:off x="19949235" y="4261970"/>
            <a:ext cx="1438817" cy="1852304"/>
            <a:chOff x="0" y="0"/>
            <a:chExt cx="1438816" cy="1852302"/>
          </a:xfrm>
        </p:grpSpPr>
        <p:sp>
          <p:nvSpPr>
            <p:cNvPr id="976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EC5D57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977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981" name="グループ"/>
          <p:cNvGrpSpPr/>
          <p:nvPr/>
        </p:nvGrpSpPr>
        <p:grpSpPr>
          <a:xfrm>
            <a:off x="11603052" y="10635512"/>
            <a:ext cx="1438817" cy="1852303"/>
            <a:chOff x="0" y="0"/>
            <a:chExt cx="1438816" cy="1852302"/>
          </a:xfrm>
        </p:grpSpPr>
        <p:sp>
          <p:nvSpPr>
            <p:cNvPr id="979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980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982" name="線"/>
          <p:cNvSpPr/>
          <p:nvPr/>
        </p:nvSpPr>
        <p:spPr>
          <a:xfrm flipH="1" flipV="1">
            <a:off x="5044080" y="5188121"/>
            <a:ext cx="14295840" cy="1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986" name="グループ"/>
          <p:cNvGrpSpPr/>
          <p:nvPr/>
        </p:nvGrpSpPr>
        <p:grpSpPr>
          <a:xfrm>
            <a:off x="1844052" y="5229089"/>
            <a:ext cx="538275" cy="1048022"/>
            <a:chOff x="0" y="0"/>
            <a:chExt cx="538273" cy="1048021"/>
          </a:xfrm>
        </p:grpSpPr>
        <p:sp>
          <p:nvSpPr>
            <p:cNvPr id="983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84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85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987" name="Aさん秘密鍵"/>
          <p:cNvSpPr txBox="1"/>
          <p:nvPr/>
        </p:nvSpPr>
        <p:spPr>
          <a:xfrm>
            <a:off x="731745" y="6502702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Aさん秘密鍵</a:t>
            </a:r>
          </a:p>
        </p:txBody>
      </p:sp>
      <p:sp>
        <p:nvSpPr>
          <p:cNvPr id="988" name="Aさん公開鍵"/>
          <p:cNvSpPr txBox="1"/>
          <p:nvPr/>
        </p:nvSpPr>
        <p:spPr>
          <a:xfrm>
            <a:off x="731745" y="2873533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Aさん公開鍵</a:t>
            </a:r>
          </a:p>
        </p:txBody>
      </p:sp>
      <p:sp>
        <p:nvSpPr>
          <p:cNvPr id="989" name="Bさん公開鍵"/>
          <p:cNvSpPr txBox="1"/>
          <p:nvPr/>
        </p:nvSpPr>
        <p:spPr>
          <a:xfrm>
            <a:off x="20166219" y="2594949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Bさん公開鍵</a:t>
            </a:r>
          </a:p>
        </p:txBody>
      </p:sp>
      <p:sp>
        <p:nvSpPr>
          <p:cNvPr id="990" name="Bさん秘密鍵"/>
          <p:cNvSpPr txBox="1"/>
          <p:nvPr/>
        </p:nvSpPr>
        <p:spPr>
          <a:xfrm>
            <a:off x="20166219" y="6502702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Bさん秘密鍵</a:t>
            </a:r>
          </a:p>
        </p:txBody>
      </p:sp>
      <p:grpSp>
        <p:nvGrpSpPr>
          <p:cNvPr id="994" name="グループ"/>
          <p:cNvGrpSpPr/>
          <p:nvPr/>
        </p:nvGrpSpPr>
        <p:grpSpPr>
          <a:xfrm>
            <a:off x="11294386" y="9321618"/>
            <a:ext cx="538275" cy="1048022"/>
            <a:chOff x="0" y="0"/>
            <a:chExt cx="538273" cy="1048021"/>
          </a:xfrm>
        </p:grpSpPr>
        <p:sp>
          <p:nvSpPr>
            <p:cNvPr id="991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92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93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98" name="グループ"/>
          <p:cNvGrpSpPr/>
          <p:nvPr/>
        </p:nvGrpSpPr>
        <p:grpSpPr>
          <a:xfrm>
            <a:off x="21788429" y="3631528"/>
            <a:ext cx="538275" cy="1048022"/>
            <a:chOff x="0" y="0"/>
            <a:chExt cx="538273" cy="1048021"/>
          </a:xfrm>
        </p:grpSpPr>
        <p:sp>
          <p:nvSpPr>
            <p:cNvPr id="995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96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97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1020" name="グループ"/>
          <p:cNvGrpSpPr/>
          <p:nvPr/>
        </p:nvGrpSpPr>
        <p:grpSpPr>
          <a:xfrm>
            <a:off x="457853" y="7861017"/>
            <a:ext cx="6505576" cy="5540375"/>
            <a:chOff x="0" y="0"/>
            <a:chExt cx="6505575" cy="5540374"/>
          </a:xfrm>
        </p:grpSpPr>
        <p:sp>
          <p:nvSpPr>
            <p:cNvPr id="999" name="登場する鍵５つ…"/>
            <p:cNvSpPr txBox="1"/>
            <p:nvPr/>
          </p:nvSpPr>
          <p:spPr>
            <a:xfrm>
              <a:off x="0" y="0"/>
              <a:ext cx="6505575" cy="5540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t">
              <a:spAutoFit/>
            </a:bodyPr>
            <a:lstStyle/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登場する鍵５つ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生成される共通鍵</a:t>
              </a:r>
            </a:p>
          </p:txBody>
        </p:sp>
        <p:grpSp>
          <p:nvGrpSpPr>
            <p:cNvPr id="1003" name="グループ"/>
            <p:cNvGrpSpPr/>
            <p:nvPr/>
          </p:nvGrpSpPr>
          <p:grpSpPr>
            <a:xfrm>
              <a:off x="428716" y="1007437"/>
              <a:ext cx="344179" cy="670118"/>
              <a:chOff x="0" y="0"/>
              <a:chExt cx="344178" cy="670116"/>
            </a:xfrm>
          </p:grpSpPr>
          <p:sp>
            <p:nvSpPr>
              <p:cNvPr id="1000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1001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02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007" name="グループ"/>
            <p:cNvGrpSpPr/>
            <p:nvPr/>
          </p:nvGrpSpPr>
          <p:grpSpPr>
            <a:xfrm>
              <a:off x="407868" y="2857589"/>
              <a:ext cx="344180" cy="670117"/>
              <a:chOff x="0" y="0"/>
              <a:chExt cx="344178" cy="670116"/>
            </a:xfrm>
          </p:grpSpPr>
          <p:sp>
            <p:nvSpPr>
              <p:cNvPr id="1004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1005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06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011" name="グループ"/>
            <p:cNvGrpSpPr/>
            <p:nvPr/>
          </p:nvGrpSpPr>
          <p:grpSpPr>
            <a:xfrm>
              <a:off x="403316" y="4766451"/>
              <a:ext cx="344179" cy="670118"/>
              <a:chOff x="0" y="0"/>
              <a:chExt cx="344178" cy="670117"/>
            </a:xfrm>
          </p:grpSpPr>
          <p:sp>
            <p:nvSpPr>
              <p:cNvPr id="1008" name="円形"/>
              <p:cNvSpPr/>
              <p:nvPr/>
            </p:nvSpPr>
            <p:spPr>
              <a:xfrm>
                <a:off x="0" y="333192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1009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10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015" name="グループ"/>
            <p:cNvGrpSpPr/>
            <p:nvPr/>
          </p:nvGrpSpPr>
          <p:grpSpPr>
            <a:xfrm>
              <a:off x="403316" y="1918847"/>
              <a:ext cx="344179" cy="670117"/>
              <a:chOff x="0" y="0"/>
              <a:chExt cx="344178" cy="670116"/>
            </a:xfrm>
          </p:grpSpPr>
          <p:sp>
            <p:nvSpPr>
              <p:cNvPr id="1012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1013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14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1019" name="グループ"/>
            <p:cNvGrpSpPr/>
            <p:nvPr/>
          </p:nvGrpSpPr>
          <p:grpSpPr>
            <a:xfrm>
              <a:off x="398764" y="3812020"/>
              <a:ext cx="344179" cy="670118"/>
              <a:chOff x="0" y="0"/>
              <a:chExt cx="344178" cy="670116"/>
            </a:xfrm>
          </p:grpSpPr>
          <p:sp>
            <p:nvSpPr>
              <p:cNvPr id="1016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1017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018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</p:grpSp>
      <p:grpSp>
        <p:nvGrpSpPr>
          <p:cNvPr id="1024" name="グループ"/>
          <p:cNvGrpSpPr/>
          <p:nvPr/>
        </p:nvGrpSpPr>
        <p:grpSpPr>
          <a:xfrm>
            <a:off x="21788431" y="4937762"/>
            <a:ext cx="538274" cy="1048023"/>
            <a:chOff x="0" y="0"/>
            <a:chExt cx="538273" cy="1048022"/>
          </a:xfrm>
        </p:grpSpPr>
        <p:sp>
          <p:nvSpPr>
            <p:cNvPr id="1021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22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23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1025" name="線"/>
          <p:cNvSpPr/>
          <p:nvPr/>
        </p:nvSpPr>
        <p:spPr>
          <a:xfrm flipH="1">
            <a:off x="12189847" y="5135093"/>
            <a:ext cx="1" cy="4526522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1029" name="グループ"/>
          <p:cNvGrpSpPr/>
          <p:nvPr/>
        </p:nvGrpSpPr>
        <p:grpSpPr>
          <a:xfrm>
            <a:off x="5013129" y="3080983"/>
            <a:ext cx="538274" cy="1048022"/>
            <a:chOff x="0" y="0"/>
            <a:chExt cx="538273" cy="1048021"/>
          </a:xfrm>
        </p:grpSpPr>
        <p:sp>
          <p:nvSpPr>
            <p:cNvPr id="1026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27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28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1030" name="公開鍵をお互いに取得する…"/>
          <p:cNvSpPr txBox="1"/>
          <p:nvPr/>
        </p:nvSpPr>
        <p:spPr>
          <a:xfrm>
            <a:off x="14943346" y="9108141"/>
            <a:ext cx="8657520" cy="2682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/>
          <a:p>
            <a:pPr marL="881944" indent="-881944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pPr>
            <a:r>
              <a:t>公開鍵をお互いに取得する</a:t>
            </a:r>
          </a:p>
          <a:p>
            <a:pPr marL="881944" indent="-881944" algn="l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pPr>
            <a:r>
              <a:t>共通鍵をお互いで生成する</a:t>
            </a:r>
          </a:p>
          <a:p>
            <a:pPr marL="881944" indent="-881944" algn="l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pPr>
            <a:r>
              <a:t>共通鍵で通信できる</a:t>
            </a:r>
          </a:p>
        </p:txBody>
      </p:sp>
      <p:grpSp>
        <p:nvGrpSpPr>
          <p:cNvPr id="1034" name="グループ"/>
          <p:cNvGrpSpPr/>
          <p:nvPr/>
        </p:nvGrpSpPr>
        <p:grpSpPr>
          <a:xfrm>
            <a:off x="12547034" y="9321618"/>
            <a:ext cx="538274" cy="1048022"/>
            <a:chOff x="0" y="0"/>
            <a:chExt cx="538273" cy="1048021"/>
          </a:xfrm>
        </p:grpSpPr>
        <p:sp>
          <p:nvSpPr>
            <p:cNvPr id="1031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32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33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1038" name="グループ"/>
          <p:cNvGrpSpPr/>
          <p:nvPr/>
        </p:nvGrpSpPr>
        <p:grpSpPr>
          <a:xfrm>
            <a:off x="1971052" y="4043237"/>
            <a:ext cx="538275" cy="1048022"/>
            <a:chOff x="0" y="0"/>
            <a:chExt cx="538273" cy="1048021"/>
          </a:xfrm>
        </p:grpSpPr>
        <p:sp>
          <p:nvSpPr>
            <p:cNvPr id="1035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36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37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1039" name="第三者は共通鍵を生成できない"/>
          <p:cNvSpPr txBox="1"/>
          <p:nvPr/>
        </p:nvSpPr>
        <p:spPr>
          <a:xfrm>
            <a:off x="7963207" y="12585825"/>
            <a:ext cx="9045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第三者は共通鍵を生成できない</a:t>
            </a:r>
          </a:p>
        </p:txBody>
      </p:sp>
      <p:grpSp>
        <p:nvGrpSpPr>
          <p:cNvPr id="1043" name="グループ"/>
          <p:cNvGrpSpPr/>
          <p:nvPr/>
        </p:nvGrpSpPr>
        <p:grpSpPr>
          <a:xfrm>
            <a:off x="18814856" y="3852737"/>
            <a:ext cx="538274" cy="1048022"/>
            <a:chOff x="0" y="0"/>
            <a:chExt cx="538273" cy="1048021"/>
          </a:xfrm>
        </p:grpSpPr>
        <p:sp>
          <p:nvSpPr>
            <p:cNvPr id="1040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41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42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1047" name="グループ"/>
          <p:cNvGrpSpPr/>
          <p:nvPr/>
        </p:nvGrpSpPr>
        <p:grpSpPr>
          <a:xfrm>
            <a:off x="5338670" y="5478539"/>
            <a:ext cx="538275" cy="1048023"/>
            <a:chOff x="0" y="0"/>
            <a:chExt cx="538273" cy="1048021"/>
          </a:xfrm>
        </p:grpSpPr>
        <p:sp>
          <p:nvSpPr>
            <p:cNvPr id="1044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45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46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1051" name="グループ"/>
          <p:cNvGrpSpPr/>
          <p:nvPr/>
        </p:nvGrpSpPr>
        <p:grpSpPr>
          <a:xfrm>
            <a:off x="18502749" y="5491356"/>
            <a:ext cx="538275" cy="1048023"/>
            <a:chOff x="0" y="0"/>
            <a:chExt cx="538273" cy="1048021"/>
          </a:xfrm>
        </p:grpSpPr>
        <p:sp>
          <p:nvSpPr>
            <p:cNvPr id="1048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49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50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1052" name="線"/>
          <p:cNvSpPr/>
          <p:nvPr/>
        </p:nvSpPr>
        <p:spPr>
          <a:xfrm flipV="1">
            <a:off x="19287858" y="5681834"/>
            <a:ext cx="2205607" cy="457088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1053" name="線"/>
          <p:cNvSpPr/>
          <p:nvPr/>
        </p:nvSpPr>
        <p:spPr>
          <a:xfrm flipH="1" flipV="1">
            <a:off x="19544259" y="4755167"/>
            <a:ext cx="492826" cy="121927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1054" name="線"/>
          <p:cNvSpPr/>
          <p:nvPr/>
        </p:nvSpPr>
        <p:spPr>
          <a:xfrm flipH="1" flipV="1">
            <a:off x="2610824" y="5768677"/>
            <a:ext cx="2503963" cy="442291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1055" name="線"/>
          <p:cNvSpPr/>
          <p:nvPr/>
        </p:nvSpPr>
        <p:spPr>
          <a:xfrm flipV="1">
            <a:off x="4365477" y="4335745"/>
            <a:ext cx="725761" cy="178434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1058" name="グループ"/>
          <p:cNvGrpSpPr/>
          <p:nvPr/>
        </p:nvGrpSpPr>
        <p:grpSpPr>
          <a:xfrm>
            <a:off x="11284060" y="6732708"/>
            <a:ext cx="1815880" cy="1815879"/>
            <a:chOff x="0" y="0"/>
            <a:chExt cx="1815878" cy="1815877"/>
          </a:xfrm>
        </p:grpSpPr>
        <p:sp>
          <p:nvSpPr>
            <p:cNvPr id="1056" name="線"/>
            <p:cNvSpPr/>
            <p:nvPr/>
          </p:nvSpPr>
          <p:spPr>
            <a:xfrm>
              <a:off x="0" y="0"/>
              <a:ext cx="1815879" cy="1815879"/>
            </a:xfrm>
            <a:prstGeom prst="line">
              <a:avLst/>
            </a:prstGeom>
            <a:noFill/>
            <a:ln w="381000" cap="flat">
              <a:solidFill>
                <a:srgbClr val="C82506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57" name="線"/>
            <p:cNvSpPr/>
            <p:nvPr/>
          </p:nvSpPr>
          <p:spPr>
            <a:xfrm flipH="1">
              <a:off x="0" y="0"/>
              <a:ext cx="1815879" cy="1815879"/>
            </a:xfrm>
            <a:prstGeom prst="line">
              <a:avLst/>
            </a:prstGeom>
            <a:noFill/>
            <a:ln w="381000" cap="flat">
              <a:solidFill>
                <a:srgbClr val="C82506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1059" name="共通鍵を渡さず、暗号通信"/>
          <p:cNvSpPr txBox="1"/>
          <p:nvPr/>
        </p:nvSpPr>
        <p:spPr>
          <a:xfrm>
            <a:off x="8395443" y="3896490"/>
            <a:ext cx="76866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共通鍵を渡さず、暗号通信</a:t>
            </a:r>
          </a:p>
        </p:txBody>
      </p:sp>
      <p:sp>
        <p:nvSpPr>
          <p:cNvPr id="1060" name="共通鍵"/>
          <p:cNvSpPr txBox="1"/>
          <p:nvPr/>
        </p:nvSpPr>
        <p:spPr>
          <a:xfrm>
            <a:off x="6221637" y="5848016"/>
            <a:ext cx="201930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共通鍵</a:t>
            </a:r>
          </a:p>
        </p:txBody>
      </p:sp>
      <p:sp>
        <p:nvSpPr>
          <p:cNvPr id="1061" name="共通鍵"/>
          <p:cNvSpPr txBox="1"/>
          <p:nvPr/>
        </p:nvSpPr>
        <p:spPr>
          <a:xfrm>
            <a:off x="16236615" y="5797039"/>
            <a:ext cx="201930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共通鍵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公開鍵暗号、スゴイ！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公開鍵暗号、スゴイ！</a:t>
            </a:r>
          </a:p>
          <a:p>
            <a:pPr algn="ctr"/>
          </a:p>
          <a:p>
            <a:pPr algn="ctr"/>
            <a:r>
              <a:t>興味があったら調べてみてね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安全の鍵は…"/>
          <p:cNvSpPr txBox="1"/>
          <p:nvPr>
            <p:ph type="ctrTitle"/>
          </p:nvPr>
        </p:nvSpPr>
        <p:spPr>
          <a:xfrm>
            <a:off x="844432" y="2113741"/>
            <a:ext cx="22695136" cy="9488518"/>
          </a:xfrm>
          <a:prstGeom prst="rect">
            <a:avLst/>
          </a:prstGeom>
        </p:spPr>
        <p:txBody>
          <a:bodyPr anchor="ctr"/>
          <a:lstStyle/>
          <a:p>
            <a:pPr algn="ctr">
              <a:defRPr spc="-300" sz="15000"/>
            </a:pPr>
            <a:r>
              <a:t>安全の鍵は</a:t>
            </a:r>
          </a:p>
          <a:p>
            <a:pPr algn="ctr">
              <a:defRPr spc="-300" sz="15000"/>
            </a:pPr>
            <a:r>
              <a:t>公開鍵暗号 と F=ma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コンピューターとネットワークも知って…"/>
          <p:cNvSpPr txBox="1"/>
          <p:nvPr>
            <p:ph type="ctrTitle"/>
          </p:nvPr>
        </p:nvSpPr>
        <p:spPr>
          <a:xfrm>
            <a:off x="844432" y="1483302"/>
            <a:ext cx="22695136" cy="10749396"/>
          </a:xfrm>
          <a:prstGeom prst="rect">
            <a:avLst/>
          </a:prstGeom>
        </p:spPr>
        <p:txBody>
          <a:bodyPr anchor="ctr"/>
          <a:lstStyle/>
          <a:p>
            <a:pPr algn="ctr">
              <a:defRPr spc="-200" sz="10000"/>
            </a:pPr>
            <a:r>
              <a:t>コンピューターとネットワークも知って</a:t>
            </a:r>
          </a:p>
          <a:p>
            <a:pPr algn="ctr">
              <a:defRPr spc="-200" sz="10000"/>
            </a:pPr>
            <a:r>
              <a:t>安全に楽しくつくろう！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